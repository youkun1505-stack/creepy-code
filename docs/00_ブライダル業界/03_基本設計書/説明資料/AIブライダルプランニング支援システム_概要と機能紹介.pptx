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2.png"/><Relationship Id="rId4" Type="http://schemas.openxmlformats.org/officeDocument/2006/relationships/image" Target="../media/image-4-2.png"/><Relationship Id="rId5" Type="http://schemas.openxmlformats.org/officeDocument/2006/relationships/image" Target="../media/image-4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1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1.png"/><Relationship Id="rId4" Type="http://schemas.openxmlformats.org/officeDocument/2006/relationships/image" Target="../media/image-6-1.png"/><Relationship Id="rId5" Type="http://schemas.openxmlformats.org/officeDocument/2006/relationships/image" Target="../media/image-6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5E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3840480" cy="3840480"/>
          </a:xfrm>
          <a:prstGeom prst="ellipse">
            <a:avLst/>
          </a:prstGeom>
          <a:solidFill>
            <a:srgbClr val="4A9DB8">
              <a:alpha val="22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280160" y="4937760"/>
            <a:ext cx="3108960" cy="3108960"/>
          </a:xfrm>
          <a:prstGeom prst="ellipse">
            <a:avLst/>
          </a:prstGeom>
          <a:solidFill>
            <a:srgbClr val="4A9DB8">
              <a:alpha val="18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1234440"/>
            <a:ext cx="640080" cy="640080"/>
          </a:xfrm>
          <a:prstGeom prst="ellipse">
            <a:avLst/>
          </a:prstGeom>
          <a:solidFill>
            <a:srgbClr val="4A9DB8"/>
          </a:solidFill>
          <a:ln/>
        </p:spPr>
        <p:txBody>
          <a:bodyPr/>
          <a:p/>
        </p:txBody>
      </p:sp>
      <p:pic>
        <p:nvPicPr>
          <p:cNvPr id="5" name="Image 0" descr="/home/claude/creepy_pptx/icons/m_rob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610" y="1317650"/>
            <a:ext cx="473659" cy="47365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214884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spc="-100" kern="0" dirty="0">
                <a:solidFill>
                  <a:srgbClr val="FFFFFF"/>
                </a:solidFill>
                <a:latin typeface="BIZ UDPMincho" pitchFamily="34" charset="0"/>
                <a:ea typeface="BIZ UDPMincho" pitchFamily="34" charset="-122"/>
                <a:cs typeface="BIZ UDPMincho" pitchFamily="34" charset="-120"/>
              </a:rPr>
              <a:t>AIブライダルプランニング支援システム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4612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E8EEF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アプリ概要・機能紹介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932688" y="3977640"/>
            <a:ext cx="1828800" cy="0"/>
          </a:xfrm>
          <a:prstGeom prst="line">
            <a:avLst/>
          </a:prstGeom>
          <a:noFill/>
          <a:ln w="25400">
            <a:solidFill>
              <a:srgbClr val="4A9DB8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914400" y="4160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P2C：Creepy Code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4526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EF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基本設計書 ver1.4（2026年7月23日改訂）をもとに作成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38912"/>
            <a:ext cx="566928" cy="566928"/>
          </a:xfrm>
          <a:prstGeom prst="ellipse">
            <a:avLst/>
          </a:prstGeom>
          <a:solidFill>
            <a:srgbClr val="4A9DB8"/>
          </a:solidFill>
          <a:ln/>
        </p:spPr>
        <p:txBody>
          <a:bodyPr/>
          <a:p/>
        </p:txBody>
      </p:sp>
      <p:pic>
        <p:nvPicPr>
          <p:cNvPr id="3" name="Image 0" descr="/home/claude/creepy_pptx/icons/m_rob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901" y="512613"/>
            <a:ext cx="419527" cy="41952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07008" y="38404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2933"/>
                </a:solidFill>
                <a:latin typeface="BIZ UDPMincho" pitchFamily="34" charset="0"/>
                <a:ea typeface="BIZ UDPMincho" pitchFamily="34" charset="-122"/>
                <a:cs typeface="BIZ UDPMincho" pitchFamily="34" charset="-120"/>
              </a:rPr>
              <a:t>本日お伝えすること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457200" y="178308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3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685800" y="1783080"/>
            <a:ext cx="1005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A9D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1691640" y="192024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BIZ UDPMincho" pitchFamily="34" charset="0"/>
                <a:ea typeface="BIZ UDPMincho" pitchFamily="34" charset="-122"/>
                <a:cs typeface="BIZ UDPMincho" pitchFamily="34" charset="-120"/>
              </a:rPr>
              <a:t>サービス概要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691640" y="2350008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B7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ブライダル業界の課題とAIによる解決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55080" y="178308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3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6583680" y="1783080"/>
            <a:ext cx="1005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A9D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7589520" y="192024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BIZ UDPMincho" pitchFamily="34" charset="0"/>
                <a:ea typeface="BIZ UDPMincho" pitchFamily="34" charset="-122"/>
                <a:cs typeface="BIZ UDPMincho" pitchFamily="34" charset="-120"/>
              </a:rPr>
              <a:t>4つの利用者と役割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7589520" y="2350008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B7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非会員・一般会員・プランナー・管理者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315468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3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685800" y="3154680"/>
            <a:ext cx="1005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A9D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1691640" y="329184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BIZ UDPMincho" pitchFamily="34" charset="0"/>
                <a:ea typeface="BIZ UDPMincho" pitchFamily="34" charset="-122"/>
                <a:cs typeface="BIZ UDPMincho" pitchFamily="34" charset="-120"/>
              </a:rPr>
              <a:t>利用の流れ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691640" y="3721608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B7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ヒアリングから合意までの5ステップ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355080" y="315468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3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6583680" y="3154680"/>
            <a:ext cx="1005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A9D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3000" dirty="0"/>
          </a:p>
        </p:txBody>
      </p:sp>
      <p:sp>
        <p:nvSpPr>
          <p:cNvPr id="19" name="Text 16"/>
          <p:cNvSpPr txBox="1"/>
          <p:nvPr/>
        </p:nvSpPr>
        <p:spPr>
          <a:xfrm>
            <a:off x="7589520" y="329184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BIZ UDPMincho" pitchFamily="34" charset="0"/>
                <a:ea typeface="BIZ UDPMincho" pitchFamily="34" charset="-122"/>
                <a:cs typeface="BIZ UDPMincho" pitchFamily="34" charset="-120"/>
              </a:rPr>
              <a:t>主要機能10選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7589520" y="3721608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B7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機能ごとに仕組みと狙いを紹介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出典：基本設計書 ver1.4（P2C：Creepy Code）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38912"/>
            <a:ext cx="566928" cy="566928"/>
          </a:xfrm>
          <a:prstGeom prst="ellipse">
            <a:avLst/>
          </a:prstGeom>
          <a:solidFill>
            <a:srgbClr val="4A9DB8"/>
          </a:solidFill>
          <a:ln/>
        </p:spPr>
        <p:txBody>
          <a:bodyPr/>
          <a:p/>
        </p:txBody>
      </p:sp>
      <p:pic>
        <p:nvPicPr>
          <p:cNvPr id="3" name="Image 0" descr="/home/claude/creepy_pptx/icons/i_ques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901" y="512613"/>
            <a:ext cx="419527" cy="41952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07008" y="38404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2933"/>
                </a:solidFill>
                <a:latin typeface="BIZ UDPMincho" pitchFamily="34" charset="0"/>
                <a:ea typeface="BIZ UDPMincho" pitchFamily="34" charset="-122"/>
                <a:cs typeface="BIZ UDPMincho" pitchFamily="34" charset="-120"/>
              </a:rPr>
              <a:t>ブライダル業界が抱える4つの課題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457200" y="192024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3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1449324" y="2240280"/>
            <a:ext cx="621792" cy="621792"/>
          </a:xfrm>
          <a:prstGeom prst="ellipse">
            <a:avLst/>
          </a:prstGeom>
          <a:solidFill>
            <a:srgbClr val="165E83"/>
          </a:solidFill>
          <a:ln/>
        </p:spPr>
        <p:txBody>
          <a:bodyPr/>
          <a:p/>
        </p:txBody>
      </p:sp>
      <p:pic>
        <p:nvPicPr>
          <p:cNvPr id="7" name="Image 1" descr="/home/claude/creepy_pptx/icons/i_c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157" y="2321113"/>
            <a:ext cx="460126" cy="46012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94360" y="310896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2933"/>
                </a:solidFill>
                <a:latin typeface="BIZ UDPMincho" pitchFamily="34" charset="0"/>
                <a:ea typeface="BIZ UDPMincho" pitchFamily="34" charset="-122"/>
                <a:cs typeface="BIZ UDPMincho" pitchFamily="34" charset="-120"/>
              </a:rPr>
              <a:t>24時間対応ができない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621792" y="4251960"/>
            <a:ext cx="22768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B7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顧客との時間が合わず機会損失が発生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3319272" y="192024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3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Shape 7"/>
          <p:cNvSpPr/>
          <p:nvPr/>
        </p:nvSpPr>
        <p:spPr>
          <a:xfrm>
            <a:off x="4311396" y="2240280"/>
            <a:ext cx="621792" cy="621792"/>
          </a:xfrm>
          <a:prstGeom prst="ellipse">
            <a:avLst/>
          </a:prstGeom>
          <a:solidFill>
            <a:srgbClr val="165E83"/>
          </a:solidFill>
          <a:ln/>
        </p:spPr>
        <p:txBody>
          <a:bodyPr/>
          <a:p/>
        </p:txBody>
      </p:sp>
      <p:pic>
        <p:nvPicPr>
          <p:cNvPr id="12" name="Image 2" descr="/home/claude/creepy_pptx/icons/i_y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2229" y="2321113"/>
            <a:ext cx="460126" cy="46012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456432" y="310896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2933"/>
                </a:solidFill>
                <a:latin typeface="BIZ UDPMincho" pitchFamily="34" charset="0"/>
                <a:ea typeface="BIZ UDPMincho" pitchFamily="34" charset="-122"/>
                <a:cs typeface="BIZ UDPMincho" pitchFamily="34" charset="-120"/>
              </a:rPr>
              <a:t>料金が不透明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3483864" y="4251960"/>
            <a:ext cx="22768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B7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後から追加費用が発生しやすい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6181344" y="192024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3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7173468" y="2240280"/>
            <a:ext cx="621792" cy="621792"/>
          </a:xfrm>
          <a:prstGeom prst="ellipse">
            <a:avLst/>
          </a:prstGeom>
          <a:solidFill>
            <a:srgbClr val="165E83"/>
          </a:solidFill>
          <a:ln/>
        </p:spPr>
        <p:txBody>
          <a:bodyPr/>
          <a:p/>
        </p:txBody>
      </p:sp>
      <p:pic>
        <p:nvPicPr>
          <p:cNvPr id="17" name="Image 3" descr="/home/claude/creepy_pptx/icons/i_balanc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4301" y="2321113"/>
            <a:ext cx="460126" cy="46012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318504" y="310896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2933"/>
                </a:solidFill>
                <a:latin typeface="BIZ UDPMincho" pitchFamily="34" charset="0"/>
                <a:ea typeface="BIZ UDPMincho" pitchFamily="34" charset="-122"/>
                <a:cs typeface="BIZ UDPMincho" pitchFamily="34" charset="-120"/>
              </a:rPr>
              <a:t>提案品質にばらつき</a:t>
            </a:r>
            <a:endParaRPr lang="en-US" sz="1700" dirty="0"/>
          </a:p>
        </p:txBody>
      </p:sp>
      <p:sp>
        <p:nvSpPr>
          <p:cNvPr id="19" name="Text 13"/>
          <p:cNvSpPr txBox="1"/>
          <p:nvPr/>
        </p:nvSpPr>
        <p:spPr>
          <a:xfrm>
            <a:off x="6345936" y="4251960"/>
            <a:ext cx="22768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B7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プランナーごとに提案の質が変わる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9043416" y="192024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3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1" name="Shape 15"/>
          <p:cNvSpPr/>
          <p:nvPr/>
        </p:nvSpPr>
        <p:spPr>
          <a:xfrm>
            <a:off x="10035540" y="2240280"/>
            <a:ext cx="621792" cy="621792"/>
          </a:xfrm>
          <a:prstGeom prst="ellipse">
            <a:avLst/>
          </a:prstGeom>
          <a:solidFill>
            <a:srgbClr val="165E83"/>
          </a:solidFill>
          <a:ln/>
        </p:spPr>
        <p:txBody>
          <a:bodyPr/>
          <a:p/>
        </p:txBody>
      </p:sp>
      <p:pic>
        <p:nvPicPr>
          <p:cNvPr id="22" name="Image 4" descr="/home/claude/creepy_pptx/icons/i_questio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16373" y="2321113"/>
            <a:ext cx="460126" cy="460126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9180576" y="310896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2933"/>
                </a:solidFill>
                <a:latin typeface="BIZ UDPMincho" pitchFamily="34" charset="0"/>
                <a:ea typeface="BIZ UDPMincho" pitchFamily="34" charset="-122"/>
                <a:cs typeface="BIZ UDPMincho" pitchFamily="34" charset="-120"/>
              </a:rPr>
              <a:t>何から決めるか分からない</a:t>
            </a:r>
            <a:endParaRPr lang="en-US" sz="1700" dirty="0"/>
          </a:p>
        </p:txBody>
      </p:sp>
      <p:sp>
        <p:nvSpPr>
          <p:cNvPr id="24" name="Text 17"/>
          <p:cNvSpPr txBox="1"/>
          <p:nvPr/>
        </p:nvSpPr>
        <p:spPr>
          <a:xfrm>
            <a:off x="9208008" y="4251960"/>
            <a:ext cx="22768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B7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初回相談までのハードルが高い</a:t>
            </a:r>
            <a:endParaRPr lang="en-US" sz="1400" dirty="0"/>
          </a:p>
        </p:txBody>
      </p:sp>
      <p:sp>
        <p:nvSpPr>
          <p:cNvPr id="25" name="Text 18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出典：基本設計書 ver1.4（P2C：Creepy Code）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38912"/>
            <a:ext cx="566928" cy="566928"/>
          </a:xfrm>
          <a:prstGeom prst="ellipse">
            <a:avLst/>
          </a:prstGeom>
          <a:solidFill>
            <a:srgbClr val="4A9DB8"/>
          </a:solidFill>
          <a:ln/>
        </p:spPr>
        <p:txBody>
          <a:bodyPr/>
          <a:p/>
        </p:txBody>
      </p:sp>
      <p:pic>
        <p:nvPicPr>
          <p:cNvPr id="3" name="Image 0" descr="/home/claude/creepy_pptx/icons/m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901" y="512613"/>
            <a:ext cx="419527" cy="41952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07008" y="38404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2933"/>
                </a:solidFill>
                <a:latin typeface="BIZ UDPMincho" pitchFamily="34" charset="0"/>
                <a:ea typeface="BIZ UDPMincho" pitchFamily="34" charset="-122"/>
                <a:cs typeface="BIZ UDPMincho" pitchFamily="34" charset="-120"/>
              </a:rPr>
              <a:t>AIを仲介役に、4つの課題をまとめて解決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457200" y="1874520"/>
            <a:ext cx="1124712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3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457200" y="1874520"/>
            <a:ext cx="3246120" cy="932688"/>
          </a:xfrm>
          <a:prstGeom prst="roundRect">
            <a:avLst>
              <a:gd name="adj" fmla="val 7843"/>
            </a:avLst>
          </a:prstGeom>
          <a:solidFill>
            <a:srgbClr val="E8EEF2"/>
          </a:solidFill>
          <a:ln/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685800" y="1874520"/>
            <a:ext cx="2880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65E8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24時間対応ができない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749040" y="2157984"/>
            <a:ext cx="365760" cy="365760"/>
          </a:xfrm>
          <a:prstGeom prst="ellipse">
            <a:avLst/>
          </a:prstGeom>
          <a:solidFill>
            <a:srgbClr val="4A9DB8"/>
          </a:solidFill>
          <a:ln/>
        </p:spPr>
        <p:txBody>
          <a:bodyPr/>
          <a:p/>
        </p:txBody>
      </p:sp>
      <p:pic>
        <p:nvPicPr>
          <p:cNvPr id="9" name="Image 1" descr="/home/claude/creepy_pptx/icons/m_arr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2192" y="2231136"/>
            <a:ext cx="219456" cy="21945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343400" y="1874520"/>
            <a:ext cx="7178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AIが24時間対応、いつでも相談を開始できる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457200" y="2990088"/>
            <a:ext cx="1124712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3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Shape 8"/>
          <p:cNvSpPr/>
          <p:nvPr/>
        </p:nvSpPr>
        <p:spPr>
          <a:xfrm>
            <a:off x="457200" y="2990088"/>
            <a:ext cx="3246120" cy="932688"/>
          </a:xfrm>
          <a:prstGeom prst="roundRect">
            <a:avLst>
              <a:gd name="adj" fmla="val 7843"/>
            </a:avLst>
          </a:prstGeom>
          <a:solidFill>
            <a:srgbClr val="E8EEF2"/>
          </a:solidFill>
          <a:ln/>
        </p:spPr>
        <p:txBody>
          <a:bodyPr/>
          <a:p/>
        </p:txBody>
      </p:sp>
      <p:sp>
        <p:nvSpPr>
          <p:cNvPr id="13" name="Text 9"/>
          <p:cNvSpPr txBox="1"/>
          <p:nvPr/>
        </p:nvSpPr>
        <p:spPr>
          <a:xfrm>
            <a:off x="685800" y="2990088"/>
            <a:ext cx="2880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65E8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料金が不透明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3749040" y="3273552"/>
            <a:ext cx="365760" cy="365760"/>
          </a:xfrm>
          <a:prstGeom prst="ellipse">
            <a:avLst/>
          </a:prstGeom>
          <a:solidFill>
            <a:srgbClr val="4A9DB8"/>
          </a:solidFill>
          <a:ln/>
        </p:spPr>
        <p:txBody>
          <a:bodyPr/>
          <a:p/>
        </p:txBody>
      </p:sp>
      <p:pic>
        <p:nvPicPr>
          <p:cNvPr id="15" name="Image 2" descr="/home/claude/creepy_pptx/icons/m_arr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2192" y="3346704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343400" y="2990088"/>
            <a:ext cx="7178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オプション変更のたびに費用をリアルタイム表示</a:t>
            </a:r>
            <a:endParaRPr lang="en-US" sz="1800" dirty="0"/>
          </a:p>
        </p:txBody>
      </p:sp>
      <p:sp>
        <p:nvSpPr>
          <p:cNvPr id="17" name="Shape 12"/>
          <p:cNvSpPr/>
          <p:nvPr/>
        </p:nvSpPr>
        <p:spPr>
          <a:xfrm>
            <a:off x="457200" y="4105656"/>
            <a:ext cx="1124712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3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8" name="Shape 13"/>
          <p:cNvSpPr/>
          <p:nvPr/>
        </p:nvSpPr>
        <p:spPr>
          <a:xfrm>
            <a:off x="457200" y="4105656"/>
            <a:ext cx="3246120" cy="932688"/>
          </a:xfrm>
          <a:prstGeom prst="roundRect">
            <a:avLst>
              <a:gd name="adj" fmla="val 7843"/>
            </a:avLst>
          </a:prstGeom>
          <a:solidFill>
            <a:srgbClr val="E8EEF2"/>
          </a:solidFill>
          <a:ln/>
        </p:spPr>
        <p:txBody>
          <a:bodyPr/>
          <a:p/>
        </p:txBody>
      </p:sp>
      <p:sp>
        <p:nvSpPr>
          <p:cNvPr id="19" name="Text 14"/>
          <p:cNvSpPr txBox="1"/>
          <p:nvPr/>
        </p:nvSpPr>
        <p:spPr>
          <a:xfrm>
            <a:off x="685800" y="4105656"/>
            <a:ext cx="2880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65E8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提案品質にばらつき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3749040" y="4389120"/>
            <a:ext cx="365760" cy="365760"/>
          </a:xfrm>
          <a:prstGeom prst="ellipse">
            <a:avLst/>
          </a:prstGeom>
          <a:solidFill>
            <a:srgbClr val="4A9DB8"/>
          </a:solidFill>
          <a:ln/>
        </p:spPr>
        <p:txBody>
          <a:bodyPr/>
          <a:p/>
        </p:txBody>
      </p:sp>
      <p:pic>
        <p:nvPicPr>
          <p:cNvPr id="21" name="Image 3" descr="/home/claude/creepy_pptx/icons/m_arr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2192" y="4462272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4343400" y="4105656"/>
            <a:ext cx="7178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AI生成のプラン雛形で品質のベースラインを底上げ</a:t>
            </a:r>
            <a:endParaRPr lang="en-US" sz="1800" dirty="0"/>
          </a:p>
        </p:txBody>
      </p:sp>
      <p:sp>
        <p:nvSpPr>
          <p:cNvPr id="23" name="Shape 17"/>
          <p:cNvSpPr/>
          <p:nvPr/>
        </p:nvSpPr>
        <p:spPr>
          <a:xfrm>
            <a:off x="457200" y="5221224"/>
            <a:ext cx="1124712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3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4" name="Shape 18"/>
          <p:cNvSpPr/>
          <p:nvPr/>
        </p:nvSpPr>
        <p:spPr>
          <a:xfrm>
            <a:off x="457200" y="5221224"/>
            <a:ext cx="3246120" cy="932688"/>
          </a:xfrm>
          <a:prstGeom prst="roundRect">
            <a:avLst>
              <a:gd name="adj" fmla="val 7843"/>
            </a:avLst>
          </a:prstGeom>
          <a:solidFill>
            <a:srgbClr val="E8EEF2"/>
          </a:solidFill>
          <a:ln/>
        </p:spPr>
        <p:txBody>
          <a:bodyPr/>
          <a:p/>
        </p:txBody>
      </p:sp>
      <p:sp>
        <p:nvSpPr>
          <p:cNvPr id="25" name="Text 19"/>
          <p:cNvSpPr txBox="1"/>
          <p:nvPr/>
        </p:nvSpPr>
        <p:spPr>
          <a:xfrm>
            <a:off x="685800" y="5221224"/>
            <a:ext cx="2880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65E8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何から決めるか分からない</a:t>
            </a:r>
            <a:endParaRPr lang="en-US" sz="1600" dirty="0"/>
          </a:p>
        </p:txBody>
      </p:sp>
      <p:sp>
        <p:nvSpPr>
          <p:cNvPr id="26" name="Shape 20"/>
          <p:cNvSpPr/>
          <p:nvPr/>
        </p:nvSpPr>
        <p:spPr>
          <a:xfrm>
            <a:off x="3749040" y="5504688"/>
            <a:ext cx="365760" cy="365760"/>
          </a:xfrm>
          <a:prstGeom prst="ellipse">
            <a:avLst/>
          </a:prstGeom>
          <a:solidFill>
            <a:srgbClr val="4A9DB8"/>
          </a:solidFill>
          <a:ln/>
        </p:spPr>
        <p:txBody>
          <a:bodyPr/>
          <a:p/>
        </p:txBody>
      </p:sp>
      <p:pic>
        <p:nvPicPr>
          <p:cNvPr id="27" name="Image 4" descr="/home/claude/creepy_pptx/icons/m_arro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2192" y="5577840"/>
            <a:ext cx="219456" cy="219456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4343400" y="5221224"/>
            <a:ext cx="7178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段階的ヒアリングとAIの深掘り質問で希望を整理</a:t>
            </a:r>
            <a:endParaRPr lang="en-US" sz="1800" dirty="0"/>
          </a:p>
        </p:txBody>
      </p:sp>
      <p:sp>
        <p:nvSpPr>
          <p:cNvPr id="29" name="Text 22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出典：基本設計書 ver1.4（P2C：Creepy Code）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38912"/>
            <a:ext cx="566928" cy="566928"/>
          </a:xfrm>
          <a:prstGeom prst="ellipse">
            <a:avLst/>
          </a:prstGeom>
          <a:solidFill>
            <a:srgbClr val="4A9DB8"/>
          </a:solidFill>
          <a:ln/>
        </p:spPr>
        <p:txBody>
          <a:bodyPr/>
          <a:p/>
        </p:txBody>
      </p:sp>
      <p:pic>
        <p:nvPicPr>
          <p:cNvPr id="3" name="Image 0" descr="/home/claude/creepy_pptx/icons/r_me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901" y="512613"/>
            <a:ext cx="419527" cy="41952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07008" y="38404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2933"/>
                </a:solidFill>
                <a:latin typeface="BIZ UDPMincho" pitchFamily="34" charset="0"/>
                <a:ea typeface="BIZ UDPMincho" pitchFamily="34" charset="-122"/>
                <a:cs typeface="BIZ UDPMincho" pitchFamily="34" charset="-120"/>
              </a:rPr>
              <a:t>利用者は4種類、権限も画面も異なる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457200" y="1783080"/>
            <a:ext cx="2606040" cy="39776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3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1476756" y="2057400"/>
            <a:ext cx="566928" cy="566928"/>
          </a:xfrm>
          <a:prstGeom prst="ellipse">
            <a:avLst/>
          </a:prstGeom>
          <a:solidFill>
            <a:srgbClr val="165E83"/>
          </a:solidFill>
          <a:ln/>
        </p:spPr>
        <p:txBody>
          <a:bodyPr/>
          <a:p/>
        </p:txBody>
      </p:sp>
      <p:pic>
        <p:nvPicPr>
          <p:cNvPr id="7" name="Image 1" descr="/home/claude/creepy_pptx/icons/r_gue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0457" y="2131101"/>
            <a:ext cx="419527" cy="41952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27889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BIZ UDPMincho" pitchFamily="34" charset="0"/>
                <a:ea typeface="BIZ UDPMincho" pitchFamily="34" charset="-122"/>
                <a:cs typeface="BIZ UDPMincho" pitchFamily="34" charset="-120"/>
              </a:rPr>
              <a:t>非会員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594360" y="31546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まだ登録していない顧客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777240" y="3749040"/>
            <a:ext cx="1965960" cy="0"/>
          </a:xfrm>
          <a:prstGeom prst="line">
            <a:avLst/>
          </a:prstGeom>
          <a:noFill/>
          <a:ln w="12700">
            <a:solidFill>
              <a:srgbClr val="E8EEF2"/>
            </a:solidFill>
            <a:prstDash val="solid"/>
          </a:ln>
        </p:spPr>
        <p:txBody>
          <a:bodyPr/>
          <a:p/>
        </p:txBody>
      </p:sp>
      <p:sp>
        <p:nvSpPr>
          <p:cNvPr id="11" name="Text 7"/>
          <p:cNvSpPr txBox="1"/>
          <p:nvPr/>
        </p:nvSpPr>
        <p:spPr>
          <a:xfrm>
            <a:off x="640080" y="388620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会員登録のみ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319272" y="1783080"/>
            <a:ext cx="2606040" cy="39776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3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4338828" y="2057400"/>
            <a:ext cx="566928" cy="566928"/>
          </a:xfrm>
          <a:prstGeom prst="ellipse">
            <a:avLst/>
          </a:prstGeom>
          <a:solidFill>
            <a:srgbClr val="165E83"/>
          </a:solidFill>
          <a:ln/>
        </p:spPr>
        <p:txBody>
          <a:bodyPr/>
          <a:p/>
        </p:txBody>
      </p:sp>
      <p:pic>
        <p:nvPicPr>
          <p:cNvPr id="14" name="Image 2" descr="/home/claude/creepy_pptx/icons/r_me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2529" y="2131101"/>
            <a:ext cx="419527" cy="41952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410712" y="27889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BIZ UDPMincho" pitchFamily="34" charset="0"/>
                <a:ea typeface="BIZ UDPMincho" pitchFamily="34" charset="-122"/>
                <a:cs typeface="BIZ UDPMincho" pitchFamily="34" charset="-120"/>
              </a:rPr>
              <a:t>一般会員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3456432" y="31546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会員登録が完了した顧客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3639312" y="3749040"/>
            <a:ext cx="1965960" cy="0"/>
          </a:xfrm>
          <a:prstGeom prst="line">
            <a:avLst/>
          </a:prstGeom>
          <a:noFill/>
          <a:ln w="12700">
            <a:solidFill>
              <a:srgbClr val="E8EEF2"/>
            </a:solidFill>
            <a:prstDash val="solid"/>
          </a:ln>
        </p:spPr>
        <p:txBody>
          <a:bodyPr/>
          <a:p/>
        </p:txBody>
      </p:sp>
      <p:sp>
        <p:nvSpPr>
          <p:cNvPr id="18" name="Text 13"/>
          <p:cNvSpPr txBox="1"/>
          <p:nvPr/>
        </p:nvSpPr>
        <p:spPr>
          <a:xfrm>
            <a:off x="3502152" y="388620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事前ヒアリング</a:t>
            </a:r>
            <a:endParaRPr lang="en-US" sz="12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AIプラン閲覧・料金試算</a:t>
            </a:r>
            <a:endParaRPr lang="en-US" sz="12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プランナーとチャット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181344" y="1783080"/>
            <a:ext cx="2606040" cy="39776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3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7200900" y="2057400"/>
            <a:ext cx="566928" cy="566928"/>
          </a:xfrm>
          <a:prstGeom prst="ellipse">
            <a:avLst/>
          </a:prstGeom>
          <a:solidFill>
            <a:srgbClr val="165E83"/>
          </a:solidFill>
          <a:ln/>
        </p:spPr>
        <p:txBody>
          <a:bodyPr/>
          <a:p/>
        </p:txBody>
      </p:sp>
      <p:pic>
        <p:nvPicPr>
          <p:cNvPr id="21" name="Image 3" descr="/home/claude/creepy_pptx/icons/r_plann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4601" y="2131101"/>
            <a:ext cx="419527" cy="41952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272784" y="27889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BIZ UDPMincho" pitchFamily="34" charset="0"/>
                <a:ea typeface="BIZ UDPMincho" pitchFamily="34" charset="-122"/>
                <a:cs typeface="BIZ UDPMincho" pitchFamily="34" charset="-120"/>
              </a:rPr>
              <a:t>プランナー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6318504" y="31546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プランを提案するスタッフ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6501384" y="3749040"/>
            <a:ext cx="1965960" cy="0"/>
          </a:xfrm>
          <a:prstGeom prst="line">
            <a:avLst/>
          </a:prstGeom>
          <a:noFill/>
          <a:ln w="12700">
            <a:solidFill>
              <a:srgbClr val="E8EEF2"/>
            </a:solidFill>
            <a:prstDash val="solid"/>
          </a:ln>
        </p:spPr>
        <p:txBody>
          <a:bodyPr/>
          <a:p/>
        </p:txBody>
      </p:sp>
      <p:sp>
        <p:nvSpPr>
          <p:cNvPr id="25" name="Text 19"/>
          <p:cNvSpPr txBox="1"/>
          <p:nvPr/>
        </p:nvSpPr>
        <p:spPr>
          <a:xfrm>
            <a:off x="6364224" y="388620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AI雛形の確認・編集</a:t>
            </a:r>
            <a:endParaRPr lang="en-US" sz="12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詳細プランの提出</a:t>
            </a:r>
            <a:endParaRPr lang="en-US" sz="12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品質ダッシュボード閲覧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9043416" y="1783080"/>
            <a:ext cx="2606040" cy="39776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3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7" name="Shape 21"/>
          <p:cNvSpPr/>
          <p:nvPr/>
        </p:nvSpPr>
        <p:spPr>
          <a:xfrm>
            <a:off x="10062972" y="2057400"/>
            <a:ext cx="566928" cy="566928"/>
          </a:xfrm>
          <a:prstGeom prst="ellipse">
            <a:avLst/>
          </a:prstGeom>
          <a:solidFill>
            <a:srgbClr val="165E83"/>
          </a:solidFill>
          <a:ln/>
        </p:spPr>
        <p:txBody>
          <a:bodyPr/>
          <a:p/>
        </p:txBody>
      </p:sp>
      <p:pic>
        <p:nvPicPr>
          <p:cNvPr id="28" name="Image 4" descr="/home/claude/creepy_pptx/icons/r_admi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6673" y="2131101"/>
            <a:ext cx="419527" cy="419527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9134856" y="27889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BIZ UDPMincho" pitchFamily="34" charset="0"/>
                <a:ea typeface="BIZ UDPMincho" pitchFamily="34" charset="-122"/>
                <a:cs typeface="BIZ UDPMincho" pitchFamily="34" charset="-120"/>
              </a:rPr>
              <a:t>管理者</a:t>
            </a:r>
            <a:endParaRPr lang="en-US" sz="1800" dirty="0"/>
          </a:p>
        </p:txBody>
      </p:sp>
      <p:sp>
        <p:nvSpPr>
          <p:cNvPr id="30" name="Text 23"/>
          <p:cNvSpPr txBox="1"/>
          <p:nvPr/>
        </p:nvSpPr>
        <p:spPr>
          <a:xfrm>
            <a:off x="9180576" y="31546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システムを管理する担当者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9363456" y="3749040"/>
            <a:ext cx="1965960" cy="0"/>
          </a:xfrm>
          <a:prstGeom prst="line">
            <a:avLst/>
          </a:prstGeom>
          <a:noFill/>
          <a:ln w="12700">
            <a:solidFill>
              <a:srgbClr val="E8EEF2"/>
            </a:solidFill>
            <a:prstDash val="solid"/>
          </a:ln>
        </p:spPr>
        <p:txBody>
          <a:bodyPr/>
          <a:p/>
        </p:txBody>
      </p:sp>
      <p:sp>
        <p:nvSpPr>
          <p:cNvPr id="32" name="Text 25"/>
          <p:cNvSpPr txBox="1"/>
          <p:nvPr/>
        </p:nvSpPr>
        <p:spPr>
          <a:xfrm>
            <a:off x="9226296" y="388620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会員情報の閲覧・変更・削除</a:t>
            </a:r>
            <a:endParaRPr lang="en-US" sz="12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品質ダッシュボードの管理</a:t>
            </a:r>
            <a:endParaRPr lang="en-US" sz="1250" dirty="0"/>
          </a:p>
        </p:txBody>
      </p:sp>
      <p:sp>
        <p:nvSpPr>
          <p:cNvPr id="33" name="Text 26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出典：基本設計書 ver1.4（P2C：Creepy Code）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38912"/>
            <a:ext cx="566928" cy="566928"/>
          </a:xfrm>
          <a:prstGeom prst="ellipse">
            <a:avLst/>
          </a:prstGeom>
          <a:solidFill>
            <a:srgbClr val="4A9DB8"/>
          </a:solidFill>
          <a:ln/>
        </p:spPr>
        <p:txBody>
          <a:bodyPr/>
          <a:p/>
        </p:txBody>
      </p:sp>
      <p:pic>
        <p:nvPicPr>
          <p:cNvPr id="3" name="Image 0" descr="/home/claude/creepy_pptx/icons/m_arr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901" y="512613"/>
            <a:ext cx="419527" cy="41952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07008" y="38404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2933"/>
                </a:solidFill>
                <a:latin typeface="BIZ UDPMincho" pitchFamily="34" charset="0"/>
                <a:ea typeface="BIZ UDPMincho" pitchFamily="34" charset="-122"/>
                <a:cs typeface="BIZ UDPMincho" pitchFamily="34" charset="-120"/>
              </a:rPr>
              <a:t>事前ヒアリングから合意まで、5ステップで進む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457200" y="1965960"/>
            <a:ext cx="2088490" cy="3794760"/>
          </a:xfrm>
          <a:prstGeom prst="roundRect">
            <a:avLst>
              <a:gd name="adj" fmla="val 3503"/>
            </a:avLst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3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1272845" y="2221992"/>
            <a:ext cx="457200" cy="457200"/>
          </a:xfrm>
          <a:prstGeom prst="ellipse">
            <a:avLst/>
          </a:prstGeom>
          <a:solidFill>
            <a:srgbClr val="165E83"/>
          </a:solidFill>
          <a:ln/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1272845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975665" y="2834640"/>
            <a:ext cx="1051560" cy="292608"/>
          </a:xfrm>
          <a:prstGeom prst="roundRect">
            <a:avLst>
              <a:gd name="adj" fmla="val 56250"/>
            </a:avLst>
          </a:prstGeom>
          <a:solidFill>
            <a:srgbClr val="E8EEF2"/>
          </a:solidFill>
          <a:ln/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975665" y="283464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5E8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顧客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3291840"/>
            <a:ext cx="186903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F2933"/>
                </a:solidFill>
                <a:latin typeface="BIZ UDPMincho" pitchFamily="34" charset="0"/>
                <a:ea typeface="BIZ UDPMincho" pitchFamily="34" charset="-122"/>
                <a:cs typeface="BIZ UDPMincho" pitchFamily="34" charset="-120"/>
              </a:rPr>
              <a:t>事前ヒアリング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4114800"/>
            <a:ext cx="181417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B7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4ステップで大枠の希望を整理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518258" y="3735324"/>
            <a:ext cx="256032" cy="256032"/>
          </a:xfrm>
          <a:prstGeom prst="ellipse">
            <a:avLst/>
          </a:prstGeom>
          <a:solidFill>
            <a:srgbClr val="4A9DB8"/>
          </a:solidFill>
          <a:ln/>
        </p:spPr>
        <p:txBody>
          <a:bodyPr/>
          <a:p/>
        </p:txBody>
      </p:sp>
      <p:pic>
        <p:nvPicPr>
          <p:cNvPr id="13" name="Image 1" descr="/home/claude/creepy_pptx/icons/m_arr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3122" y="3790188"/>
            <a:ext cx="146304" cy="14630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2746858" y="1965960"/>
            <a:ext cx="2088490" cy="3794760"/>
          </a:xfrm>
          <a:prstGeom prst="roundRect">
            <a:avLst>
              <a:gd name="adj" fmla="val 3503"/>
            </a:avLst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3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3562502" y="2221992"/>
            <a:ext cx="457200" cy="457200"/>
          </a:xfrm>
          <a:prstGeom prst="ellipse">
            <a:avLst/>
          </a:prstGeom>
          <a:solidFill>
            <a:srgbClr val="165E83"/>
          </a:solidFill>
          <a:ln/>
        </p:spPr>
        <p:txBody>
          <a:bodyPr/>
          <a:p/>
        </p:txBody>
      </p:sp>
      <p:sp>
        <p:nvSpPr>
          <p:cNvPr id="16" name="Text 12"/>
          <p:cNvSpPr txBox="1"/>
          <p:nvPr/>
        </p:nvSpPr>
        <p:spPr>
          <a:xfrm>
            <a:off x="3562502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Shape 13"/>
          <p:cNvSpPr/>
          <p:nvPr/>
        </p:nvSpPr>
        <p:spPr>
          <a:xfrm>
            <a:off x="3265322" y="2834640"/>
            <a:ext cx="1051560" cy="292608"/>
          </a:xfrm>
          <a:prstGeom prst="roundRect">
            <a:avLst>
              <a:gd name="adj" fmla="val 56250"/>
            </a:avLst>
          </a:prstGeom>
          <a:solidFill>
            <a:srgbClr val="E8EEF2"/>
          </a:solidFill>
          <a:ln/>
        </p:spPr>
        <p:txBody>
          <a:bodyPr/>
          <a:p/>
        </p:txBody>
      </p:sp>
      <p:sp>
        <p:nvSpPr>
          <p:cNvPr id="18" name="Text 14"/>
          <p:cNvSpPr txBox="1"/>
          <p:nvPr/>
        </p:nvSpPr>
        <p:spPr>
          <a:xfrm>
            <a:off x="3265322" y="283464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5E8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AI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2856586" y="3291840"/>
            <a:ext cx="186903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F2933"/>
                </a:solidFill>
                <a:latin typeface="BIZ UDPMincho" pitchFamily="34" charset="0"/>
                <a:ea typeface="BIZ UDPMincho" pitchFamily="34" charset="-122"/>
                <a:cs typeface="BIZ UDPMincho" pitchFamily="34" charset="-120"/>
              </a:rPr>
              <a:t>深掘り質問・雛形生成</a:t>
            </a:r>
            <a:endParaRPr lang="en-US" sz="1450" dirty="0"/>
          </a:p>
        </p:txBody>
      </p:sp>
      <p:sp>
        <p:nvSpPr>
          <p:cNvPr id="20" name="Text 16"/>
          <p:cNvSpPr txBox="1"/>
          <p:nvPr/>
        </p:nvSpPr>
        <p:spPr>
          <a:xfrm>
            <a:off x="2884018" y="4114800"/>
            <a:ext cx="181417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B7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価値観を深掘りしプラン雛形を自動生成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4807915" y="3735324"/>
            <a:ext cx="256032" cy="256032"/>
          </a:xfrm>
          <a:prstGeom prst="ellipse">
            <a:avLst/>
          </a:prstGeom>
          <a:solidFill>
            <a:srgbClr val="4A9DB8"/>
          </a:solidFill>
          <a:ln/>
        </p:spPr>
        <p:txBody>
          <a:bodyPr/>
          <a:p/>
        </p:txBody>
      </p:sp>
      <p:pic>
        <p:nvPicPr>
          <p:cNvPr id="22" name="Image 2" descr="/home/claude/creepy_pptx/icons/m_arr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2779" y="3790188"/>
            <a:ext cx="146304" cy="146304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5036515" y="1965960"/>
            <a:ext cx="2088490" cy="3794760"/>
          </a:xfrm>
          <a:prstGeom prst="roundRect">
            <a:avLst>
              <a:gd name="adj" fmla="val 3503"/>
            </a:avLst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3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4" name="Shape 19"/>
          <p:cNvSpPr/>
          <p:nvPr/>
        </p:nvSpPr>
        <p:spPr>
          <a:xfrm>
            <a:off x="5852160" y="2221992"/>
            <a:ext cx="457200" cy="457200"/>
          </a:xfrm>
          <a:prstGeom prst="ellipse">
            <a:avLst/>
          </a:prstGeom>
          <a:solidFill>
            <a:srgbClr val="165E83"/>
          </a:solidFill>
          <a:ln/>
        </p:spPr>
        <p:txBody>
          <a:bodyPr/>
          <a:p/>
        </p:txBody>
      </p:sp>
      <p:sp>
        <p:nvSpPr>
          <p:cNvPr id="25" name="Text 20"/>
          <p:cNvSpPr txBox="1"/>
          <p:nvPr/>
        </p:nvSpPr>
        <p:spPr>
          <a:xfrm>
            <a:off x="5852160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000" dirty="0"/>
          </a:p>
        </p:txBody>
      </p:sp>
      <p:sp>
        <p:nvSpPr>
          <p:cNvPr id="26" name="Shape 21"/>
          <p:cNvSpPr/>
          <p:nvPr/>
        </p:nvSpPr>
        <p:spPr>
          <a:xfrm>
            <a:off x="5554980" y="2834640"/>
            <a:ext cx="1051560" cy="292608"/>
          </a:xfrm>
          <a:prstGeom prst="roundRect">
            <a:avLst>
              <a:gd name="adj" fmla="val 56250"/>
            </a:avLst>
          </a:prstGeom>
          <a:solidFill>
            <a:srgbClr val="E8EEF2"/>
          </a:solidFill>
          <a:ln/>
        </p:spPr>
        <p:txBody>
          <a:bodyPr/>
          <a:p/>
        </p:txBody>
      </p:sp>
      <p:sp>
        <p:nvSpPr>
          <p:cNvPr id="27" name="Text 22"/>
          <p:cNvSpPr txBox="1"/>
          <p:nvPr/>
        </p:nvSpPr>
        <p:spPr>
          <a:xfrm>
            <a:off x="5554980" y="283464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5E8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管理者</a:t>
            </a:r>
            <a:endParaRPr lang="en-US" sz="1300" dirty="0"/>
          </a:p>
        </p:txBody>
      </p:sp>
      <p:sp>
        <p:nvSpPr>
          <p:cNvPr id="28" name="Text 23"/>
          <p:cNvSpPr txBox="1"/>
          <p:nvPr/>
        </p:nvSpPr>
        <p:spPr>
          <a:xfrm>
            <a:off x="5146243" y="3291840"/>
            <a:ext cx="186903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F2933"/>
                </a:solidFill>
                <a:latin typeface="BIZ UDPMincho" pitchFamily="34" charset="0"/>
                <a:ea typeface="BIZ UDPMincho" pitchFamily="34" charset="-122"/>
                <a:cs typeface="BIZ UDPMincho" pitchFamily="34" charset="-120"/>
              </a:rPr>
              <a:t>プランナー割当</a:t>
            </a:r>
            <a:endParaRPr lang="en-US" sz="1450" dirty="0"/>
          </a:p>
        </p:txBody>
      </p:sp>
      <p:sp>
        <p:nvSpPr>
          <p:cNvPr id="29" name="Text 24"/>
          <p:cNvSpPr txBox="1"/>
          <p:nvPr/>
        </p:nvSpPr>
        <p:spPr>
          <a:xfrm>
            <a:off x="5173675" y="4114800"/>
            <a:ext cx="181417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B7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担当プランナーを手動でマッチング</a:t>
            </a:r>
            <a:endParaRPr lang="en-US" sz="1200" dirty="0"/>
          </a:p>
        </p:txBody>
      </p:sp>
      <p:sp>
        <p:nvSpPr>
          <p:cNvPr id="30" name="Shape 25"/>
          <p:cNvSpPr/>
          <p:nvPr/>
        </p:nvSpPr>
        <p:spPr>
          <a:xfrm>
            <a:off x="7097573" y="3735324"/>
            <a:ext cx="256032" cy="256032"/>
          </a:xfrm>
          <a:prstGeom prst="ellipse">
            <a:avLst/>
          </a:prstGeom>
          <a:solidFill>
            <a:srgbClr val="4A9DB8"/>
          </a:solidFill>
          <a:ln/>
        </p:spPr>
        <p:txBody>
          <a:bodyPr/>
          <a:p/>
        </p:txBody>
      </p:sp>
      <p:pic>
        <p:nvPicPr>
          <p:cNvPr id="31" name="Image 3" descr="/home/claude/creepy_pptx/icons/m_arr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2437" y="3790188"/>
            <a:ext cx="146304" cy="146304"/>
          </a:xfrm>
          <a:prstGeom prst="rect">
            <a:avLst/>
          </a:prstGeom>
        </p:spPr>
      </p:pic>
      <p:sp>
        <p:nvSpPr>
          <p:cNvPr id="32" name="Shape 26"/>
          <p:cNvSpPr/>
          <p:nvPr/>
        </p:nvSpPr>
        <p:spPr>
          <a:xfrm>
            <a:off x="7326173" y="1965960"/>
            <a:ext cx="2088490" cy="3794760"/>
          </a:xfrm>
          <a:prstGeom prst="roundRect">
            <a:avLst>
              <a:gd name="adj" fmla="val 3503"/>
            </a:avLst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3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3" name="Shape 27"/>
          <p:cNvSpPr/>
          <p:nvPr/>
        </p:nvSpPr>
        <p:spPr>
          <a:xfrm>
            <a:off x="8141818" y="2221992"/>
            <a:ext cx="457200" cy="457200"/>
          </a:xfrm>
          <a:prstGeom prst="ellipse">
            <a:avLst/>
          </a:prstGeom>
          <a:solidFill>
            <a:srgbClr val="165E83"/>
          </a:solidFill>
          <a:ln/>
        </p:spPr>
        <p:txBody>
          <a:bodyPr/>
          <a:p/>
        </p:txBody>
      </p:sp>
      <p:sp>
        <p:nvSpPr>
          <p:cNvPr id="34" name="Text 28"/>
          <p:cNvSpPr txBox="1"/>
          <p:nvPr/>
        </p:nvSpPr>
        <p:spPr>
          <a:xfrm>
            <a:off x="8141818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000" dirty="0"/>
          </a:p>
        </p:txBody>
      </p:sp>
      <p:sp>
        <p:nvSpPr>
          <p:cNvPr id="35" name="Shape 29"/>
          <p:cNvSpPr/>
          <p:nvPr/>
        </p:nvSpPr>
        <p:spPr>
          <a:xfrm>
            <a:off x="7792060" y="2834640"/>
            <a:ext cx="1156716" cy="292608"/>
          </a:xfrm>
          <a:prstGeom prst="roundRect">
            <a:avLst>
              <a:gd name="adj" fmla="val 56250"/>
            </a:avLst>
          </a:prstGeom>
          <a:solidFill>
            <a:srgbClr val="E8EEF2"/>
          </a:solidFill>
          <a:ln/>
        </p:spPr>
        <p:txBody>
          <a:bodyPr/>
          <a:p/>
        </p:txBody>
      </p:sp>
      <p:sp>
        <p:nvSpPr>
          <p:cNvPr id="36" name="Text 30"/>
          <p:cNvSpPr txBox="1"/>
          <p:nvPr/>
        </p:nvSpPr>
        <p:spPr>
          <a:xfrm>
            <a:off x="7792060" y="2834640"/>
            <a:ext cx="11567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5E8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プランナー</a:t>
            </a:r>
            <a:endParaRPr lang="en-US" sz="1300" dirty="0"/>
          </a:p>
        </p:txBody>
      </p:sp>
      <p:sp>
        <p:nvSpPr>
          <p:cNvPr id="37" name="Text 31"/>
          <p:cNvSpPr txBox="1"/>
          <p:nvPr/>
        </p:nvSpPr>
        <p:spPr>
          <a:xfrm>
            <a:off x="7435901" y="3291840"/>
            <a:ext cx="186903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F2933"/>
                </a:solidFill>
                <a:latin typeface="BIZ UDPMincho" pitchFamily="34" charset="0"/>
                <a:ea typeface="BIZ UDPMincho" pitchFamily="34" charset="-122"/>
                <a:cs typeface="BIZ UDPMincho" pitchFamily="34" charset="-120"/>
              </a:rPr>
              <a:t>詳細プラン提出</a:t>
            </a:r>
            <a:endParaRPr lang="en-US" sz="1450" dirty="0"/>
          </a:p>
        </p:txBody>
      </p:sp>
      <p:sp>
        <p:nvSpPr>
          <p:cNvPr id="38" name="Text 32"/>
          <p:cNvSpPr txBox="1"/>
          <p:nvPr/>
        </p:nvSpPr>
        <p:spPr>
          <a:xfrm>
            <a:off x="7463333" y="4114800"/>
            <a:ext cx="181417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B7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AI雛形をもとに詳細プランを作成</a:t>
            </a:r>
            <a:endParaRPr lang="en-US" sz="1200" dirty="0"/>
          </a:p>
        </p:txBody>
      </p:sp>
      <p:sp>
        <p:nvSpPr>
          <p:cNvPr id="39" name="Shape 33"/>
          <p:cNvSpPr/>
          <p:nvPr/>
        </p:nvSpPr>
        <p:spPr>
          <a:xfrm>
            <a:off x="9387230" y="3735324"/>
            <a:ext cx="256032" cy="256032"/>
          </a:xfrm>
          <a:prstGeom prst="ellipse">
            <a:avLst/>
          </a:prstGeom>
          <a:solidFill>
            <a:srgbClr val="4A9DB8"/>
          </a:solidFill>
          <a:ln/>
        </p:spPr>
        <p:txBody>
          <a:bodyPr/>
          <a:p/>
        </p:txBody>
      </p:sp>
      <p:pic>
        <p:nvPicPr>
          <p:cNvPr id="40" name="Image 4" descr="/home/claude/creepy_pptx/icons/m_arro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2094" y="3790188"/>
            <a:ext cx="146304" cy="146304"/>
          </a:xfrm>
          <a:prstGeom prst="rect">
            <a:avLst/>
          </a:prstGeom>
        </p:spPr>
      </p:pic>
      <p:sp>
        <p:nvSpPr>
          <p:cNvPr id="41" name="Shape 34"/>
          <p:cNvSpPr/>
          <p:nvPr/>
        </p:nvSpPr>
        <p:spPr>
          <a:xfrm>
            <a:off x="9615830" y="1965960"/>
            <a:ext cx="2088490" cy="3794760"/>
          </a:xfrm>
          <a:prstGeom prst="roundRect">
            <a:avLst>
              <a:gd name="adj" fmla="val 3503"/>
            </a:avLst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3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42" name="Shape 35"/>
          <p:cNvSpPr/>
          <p:nvPr/>
        </p:nvSpPr>
        <p:spPr>
          <a:xfrm>
            <a:off x="10431475" y="2221992"/>
            <a:ext cx="457200" cy="457200"/>
          </a:xfrm>
          <a:prstGeom prst="ellipse">
            <a:avLst/>
          </a:prstGeom>
          <a:solidFill>
            <a:srgbClr val="165E83"/>
          </a:solidFill>
          <a:ln/>
        </p:spPr>
        <p:txBody>
          <a:bodyPr/>
          <a:p/>
        </p:txBody>
      </p:sp>
      <p:sp>
        <p:nvSpPr>
          <p:cNvPr id="43" name="Text 36"/>
          <p:cNvSpPr txBox="1"/>
          <p:nvPr/>
        </p:nvSpPr>
        <p:spPr>
          <a:xfrm>
            <a:off x="10431475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2000" dirty="0"/>
          </a:p>
        </p:txBody>
      </p:sp>
      <p:sp>
        <p:nvSpPr>
          <p:cNvPr id="44" name="Shape 37"/>
          <p:cNvSpPr/>
          <p:nvPr/>
        </p:nvSpPr>
        <p:spPr>
          <a:xfrm>
            <a:off x="9827971" y="2834640"/>
            <a:ext cx="1664208" cy="292608"/>
          </a:xfrm>
          <a:prstGeom prst="roundRect">
            <a:avLst>
              <a:gd name="adj" fmla="val 56250"/>
            </a:avLst>
          </a:prstGeom>
          <a:solidFill>
            <a:srgbClr val="E8EEF2"/>
          </a:solidFill>
          <a:ln/>
        </p:spPr>
        <p:txBody>
          <a:bodyPr/>
          <a:p/>
        </p:txBody>
      </p:sp>
      <p:sp>
        <p:nvSpPr>
          <p:cNvPr id="45" name="Text 38"/>
          <p:cNvSpPr txBox="1"/>
          <p:nvPr/>
        </p:nvSpPr>
        <p:spPr>
          <a:xfrm>
            <a:off x="9827971" y="2834640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5E8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顧客⇄プランナー</a:t>
            </a:r>
            <a:endParaRPr lang="en-US" sz="1300" dirty="0"/>
          </a:p>
        </p:txBody>
      </p:sp>
      <p:sp>
        <p:nvSpPr>
          <p:cNvPr id="46" name="Text 39"/>
          <p:cNvSpPr txBox="1"/>
          <p:nvPr/>
        </p:nvSpPr>
        <p:spPr>
          <a:xfrm>
            <a:off x="9725558" y="3291840"/>
            <a:ext cx="186903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F2933"/>
                </a:solidFill>
                <a:latin typeface="BIZ UDPMincho" pitchFamily="34" charset="0"/>
                <a:ea typeface="BIZ UDPMincho" pitchFamily="34" charset="-122"/>
                <a:cs typeface="BIZ UDPMincho" pitchFamily="34" charset="-120"/>
              </a:rPr>
              <a:t>チャットで調整・合意</a:t>
            </a:r>
            <a:endParaRPr lang="en-US" sz="1450" dirty="0"/>
          </a:p>
        </p:txBody>
      </p:sp>
      <p:sp>
        <p:nvSpPr>
          <p:cNvPr id="47" name="Text 40"/>
          <p:cNvSpPr txBox="1"/>
          <p:nvPr/>
        </p:nvSpPr>
        <p:spPr>
          <a:xfrm>
            <a:off x="9752990" y="4114800"/>
            <a:ext cx="181417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B7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アプリ内チャットで最終合意</a:t>
            </a:r>
            <a:endParaRPr lang="en-US" sz="1200" dirty="0"/>
          </a:p>
        </p:txBody>
      </p:sp>
      <p:sp>
        <p:nvSpPr>
          <p:cNvPr id="48" name="Text 41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出典：基本設計書 ver1.4（P2C：Creepy Code）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38912"/>
            <a:ext cx="566928" cy="566928"/>
          </a:xfrm>
          <a:prstGeom prst="ellipse">
            <a:avLst/>
          </a:prstGeom>
          <a:solidFill>
            <a:srgbClr val="4A9DB8"/>
          </a:solidFill>
          <a:ln/>
        </p:spPr>
        <p:txBody>
          <a:bodyPr/>
          <a:p/>
        </p:txBody>
      </p:sp>
      <p:pic>
        <p:nvPicPr>
          <p:cNvPr id="3" name="Image 0" descr="/home/claude/creepy_pptx/icons/m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901" y="512613"/>
            <a:ext cx="419527" cy="41952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07008" y="38404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2933"/>
                </a:solidFill>
                <a:latin typeface="BIZ UDPMincho" pitchFamily="34" charset="0"/>
                <a:ea typeface="BIZ UDPMincho" pitchFamily="34" charset="-122"/>
                <a:cs typeface="BIZ UDPMincho" pitchFamily="34" charset="-120"/>
              </a:rPr>
              <a:t>主要機能は10、顧客・プランナー・管理者を支える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457200" y="1783080"/>
            <a:ext cx="548640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3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621792" y="1947672"/>
            <a:ext cx="457200" cy="457200"/>
          </a:xfrm>
          <a:prstGeom prst="ellipse">
            <a:avLst/>
          </a:prstGeom>
          <a:solidFill>
            <a:srgbClr val="4A9DB8"/>
          </a:solidFill>
          <a:ln/>
        </p:spPr>
        <p:txBody>
          <a:bodyPr/>
          <a:p/>
        </p:txBody>
      </p:sp>
      <p:pic>
        <p:nvPicPr>
          <p:cNvPr id="7" name="Image 1" descr="/home/claude/creepy_pptx/icons/f1_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" y="2007108"/>
            <a:ext cx="338328" cy="33832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43000" y="1783080"/>
            <a:ext cx="548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B6B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645920" y="185623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会員登録・ログイン・パスワードリセット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1645920" y="22219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65E8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対象：全員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217920" y="1783080"/>
            <a:ext cx="548640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3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Shape 8"/>
          <p:cNvSpPr/>
          <p:nvPr/>
        </p:nvSpPr>
        <p:spPr>
          <a:xfrm>
            <a:off x="6382512" y="1947672"/>
            <a:ext cx="457200" cy="457200"/>
          </a:xfrm>
          <a:prstGeom prst="ellipse">
            <a:avLst/>
          </a:prstGeom>
          <a:solidFill>
            <a:srgbClr val="4A9DB8"/>
          </a:solidFill>
          <a:ln/>
        </p:spPr>
        <p:txBody>
          <a:bodyPr/>
          <a:p/>
        </p:txBody>
      </p:sp>
      <p:pic>
        <p:nvPicPr>
          <p:cNvPr id="13" name="Image 2" descr="/home/claude/creepy_pptx/icons/f2_clip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1948" y="2007108"/>
            <a:ext cx="338328" cy="33832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903720" y="1783080"/>
            <a:ext cx="548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B6B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7406640" y="185623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事前ヒアリング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7406640" y="22219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65E8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対象：一般会員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57200" y="2697480"/>
            <a:ext cx="548640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3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8" name="Shape 13"/>
          <p:cNvSpPr/>
          <p:nvPr/>
        </p:nvSpPr>
        <p:spPr>
          <a:xfrm>
            <a:off x="621792" y="2862072"/>
            <a:ext cx="457200" cy="457200"/>
          </a:xfrm>
          <a:prstGeom prst="ellipse">
            <a:avLst/>
          </a:prstGeom>
          <a:solidFill>
            <a:srgbClr val="4A9DB8"/>
          </a:solidFill>
          <a:ln/>
        </p:spPr>
        <p:txBody>
          <a:bodyPr/>
          <a:p/>
        </p:txBody>
      </p:sp>
      <p:pic>
        <p:nvPicPr>
          <p:cNvPr id="19" name="Image 3" descr="/home/claude/creepy_pptx/icons/f3_comm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" y="2921508"/>
            <a:ext cx="338328" cy="33832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143000" y="2697480"/>
            <a:ext cx="548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B6B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1645920" y="277063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AI深掘り質問【新設】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1645920" y="31363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65E8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対象：一般会員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6217920" y="2697480"/>
            <a:ext cx="548640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3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4" name="Shape 18"/>
          <p:cNvSpPr/>
          <p:nvPr/>
        </p:nvSpPr>
        <p:spPr>
          <a:xfrm>
            <a:off x="6382512" y="2862072"/>
            <a:ext cx="457200" cy="457200"/>
          </a:xfrm>
          <a:prstGeom prst="ellipse">
            <a:avLst/>
          </a:prstGeom>
          <a:solidFill>
            <a:srgbClr val="4A9DB8"/>
          </a:solidFill>
          <a:ln/>
        </p:spPr>
        <p:txBody>
          <a:bodyPr/>
          <a:p/>
        </p:txBody>
      </p:sp>
      <p:pic>
        <p:nvPicPr>
          <p:cNvPr id="25" name="Image 4" descr="/home/claude/creepy_pptx/icons/f4_calc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1948" y="2921508"/>
            <a:ext cx="338328" cy="33832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6903720" y="2697480"/>
            <a:ext cx="548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B6B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7406640" y="277063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リアルタイム料金シミュレーション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7406640" y="31363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65E8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対象：一般会員・プランナー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457200" y="3611880"/>
            <a:ext cx="548640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3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0" name="Shape 23"/>
          <p:cNvSpPr/>
          <p:nvPr/>
        </p:nvSpPr>
        <p:spPr>
          <a:xfrm>
            <a:off x="621792" y="3776472"/>
            <a:ext cx="457200" cy="457200"/>
          </a:xfrm>
          <a:prstGeom prst="ellipse">
            <a:avLst/>
          </a:prstGeom>
          <a:solidFill>
            <a:srgbClr val="4A9DB8"/>
          </a:solidFill>
          <a:ln/>
        </p:spPr>
        <p:txBody>
          <a:bodyPr/>
          <a:p/>
        </p:txBody>
      </p:sp>
      <p:pic>
        <p:nvPicPr>
          <p:cNvPr id="31" name="Image 5" descr="/home/claude/creepy_pptx/icons/f5_magic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228" y="3835908"/>
            <a:ext cx="338328" cy="338328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1143000" y="3611880"/>
            <a:ext cx="548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B6B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500" dirty="0"/>
          </a:p>
        </p:txBody>
      </p:sp>
      <p:sp>
        <p:nvSpPr>
          <p:cNvPr id="33" name="Text 25"/>
          <p:cNvSpPr txBox="1"/>
          <p:nvPr/>
        </p:nvSpPr>
        <p:spPr>
          <a:xfrm>
            <a:off x="1645920" y="368503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AIプラン雛形生成</a:t>
            </a:r>
            <a:endParaRPr lang="en-US" sz="1400" dirty="0"/>
          </a:p>
        </p:txBody>
      </p:sp>
      <p:sp>
        <p:nvSpPr>
          <p:cNvPr id="34" name="Text 26"/>
          <p:cNvSpPr txBox="1"/>
          <p:nvPr/>
        </p:nvSpPr>
        <p:spPr>
          <a:xfrm>
            <a:off x="1645920" y="40507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65E8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対象：AI（自動）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6217920" y="3611880"/>
            <a:ext cx="548640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3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6" name="Shape 28"/>
          <p:cNvSpPr/>
          <p:nvPr/>
        </p:nvSpPr>
        <p:spPr>
          <a:xfrm>
            <a:off x="6382512" y="3776472"/>
            <a:ext cx="457200" cy="457200"/>
          </a:xfrm>
          <a:prstGeom prst="ellipse">
            <a:avLst/>
          </a:prstGeom>
          <a:solidFill>
            <a:srgbClr val="4A9DB8"/>
          </a:solidFill>
          <a:ln/>
        </p:spPr>
        <p:txBody>
          <a:bodyPr/>
          <a:p/>
        </p:txBody>
      </p:sp>
      <p:pic>
        <p:nvPicPr>
          <p:cNvPr id="37" name="Image 6" descr="/home/claude/creepy_pptx/icons/f6_ti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1948" y="3835908"/>
            <a:ext cx="338328" cy="338328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6903720" y="3611880"/>
            <a:ext cx="548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B6B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500" dirty="0"/>
          </a:p>
        </p:txBody>
      </p:sp>
      <p:sp>
        <p:nvSpPr>
          <p:cNvPr id="39" name="Text 30"/>
          <p:cNvSpPr txBox="1"/>
          <p:nvPr/>
        </p:nvSpPr>
        <p:spPr>
          <a:xfrm>
            <a:off x="7406640" y="368503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プランナー向けAI支援</a:t>
            </a:r>
            <a:endParaRPr lang="en-US" sz="1400" dirty="0"/>
          </a:p>
        </p:txBody>
      </p:sp>
      <p:sp>
        <p:nvSpPr>
          <p:cNvPr id="40" name="Text 31"/>
          <p:cNvSpPr txBox="1"/>
          <p:nvPr/>
        </p:nvSpPr>
        <p:spPr>
          <a:xfrm>
            <a:off x="7406640" y="40507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65E8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対象：プランナー</a:t>
            </a:r>
            <a:endParaRPr lang="en-US" sz="1100" dirty="0"/>
          </a:p>
        </p:txBody>
      </p:sp>
      <p:sp>
        <p:nvSpPr>
          <p:cNvPr id="41" name="Shape 32"/>
          <p:cNvSpPr/>
          <p:nvPr/>
        </p:nvSpPr>
        <p:spPr>
          <a:xfrm>
            <a:off x="457200" y="4526280"/>
            <a:ext cx="548640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3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42" name="Shape 33"/>
          <p:cNvSpPr/>
          <p:nvPr/>
        </p:nvSpPr>
        <p:spPr>
          <a:xfrm>
            <a:off x="621792" y="4690872"/>
            <a:ext cx="457200" cy="457200"/>
          </a:xfrm>
          <a:prstGeom prst="ellipse">
            <a:avLst/>
          </a:prstGeom>
          <a:solidFill>
            <a:srgbClr val="4A9DB8"/>
          </a:solidFill>
          <a:ln/>
        </p:spPr>
        <p:txBody>
          <a:bodyPr/>
          <a:p/>
        </p:txBody>
      </p:sp>
      <p:pic>
        <p:nvPicPr>
          <p:cNvPr id="43" name="Image 7" descr="/home/claude/creepy_pptx/icons/f7_comments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1228" y="4750308"/>
            <a:ext cx="338328" cy="338328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1143000" y="4526280"/>
            <a:ext cx="548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B6B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1500" dirty="0"/>
          </a:p>
        </p:txBody>
      </p:sp>
      <p:sp>
        <p:nvSpPr>
          <p:cNvPr id="45" name="Text 35"/>
          <p:cNvSpPr txBox="1"/>
          <p:nvPr/>
        </p:nvSpPr>
        <p:spPr>
          <a:xfrm>
            <a:off x="1645920" y="459943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チャット機能</a:t>
            </a:r>
            <a:endParaRPr lang="en-US" sz="1400" dirty="0"/>
          </a:p>
        </p:txBody>
      </p:sp>
      <p:sp>
        <p:nvSpPr>
          <p:cNvPr id="46" name="Text 36"/>
          <p:cNvSpPr txBox="1"/>
          <p:nvPr/>
        </p:nvSpPr>
        <p:spPr>
          <a:xfrm>
            <a:off x="1645920" y="49651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65E8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対象：一般会員・プランナー</a:t>
            </a:r>
            <a:endParaRPr lang="en-US" sz="1100" dirty="0"/>
          </a:p>
        </p:txBody>
      </p:sp>
      <p:sp>
        <p:nvSpPr>
          <p:cNvPr id="47" name="Shape 37"/>
          <p:cNvSpPr/>
          <p:nvPr/>
        </p:nvSpPr>
        <p:spPr>
          <a:xfrm>
            <a:off x="6217920" y="4526280"/>
            <a:ext cx="548640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3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48" name="Shape 38"/>
          <p:cNvSpPr/>
          <p:nvPr/>
        </p:nvSpPr>
        <p:spPr>
          <a:xfrm>
            <a:off x="6382512" y="4690872"/>
            <a:ext cx="457200" cy="457200"/>
          </a:xfrm>
          <a:prstGeom prst="ellipse">
            <a:avLst/>
          </a:prstGeom>
          <a:solidFill>
            <a:srgbClr val="4A9DB8"/>
          </a:solidFill>
          <a:ln/>
        </p:spPr>
        <p:txBody>
          <a:bodyPr/>
          <a:p/>
        </p:txBody>
      </p:sp>
      <p:pic>
        <p:nvPicPr>
          <p:cNvPr id="49" name="Image 8" descr="/home/claude/creepy_pptx/icons/f8_char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1948" y="4750308"/>
            <a:ext cx="338328" cy="338328"/>
          </a:xfrm>
          <a:prstGeom prst="rect">
            <a:avLst/>
          </a:prstGeom>
        </p:spPr>
      </p:pic>
      <p:sp>
        <p:nvSpPr>
          <p:cNvPr id="50" name="Text 39"/>
          <p:cNvSpPr txBox="1"/>
          <p:nvPr/>
        </p:nvSpPr>
        <p:spPr>
          <a:xfrm>
            <a:off x="6903720" y="4526280"/>
            <a:ext cx="548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B6B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1500" dirty="0"/>
          </a:p>
        </p:txBody>
      </p:sp>
      <p:sp>
        <p:nvSpPr>
          <p:cNvPr id="51" name="Text 40"/>
          <p:cNvSpPr txBox="1"/>
          <p:nvPr/>
        </p:nvSpPr>
        <p:spPr>
          <a:xfrm>
            <a:off x="7406640" y="459943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プランナー品質ダッシュボード</a:t>
            </a:r>
            <a:endParaRPr lang="en-US" sz="1400" dirty="0"/>
          </a:p>
        </p:txBody>
      </p:sp>
      <p:sp>
        <p:nvSpPr>
          <p:cNvPr id="52" name="Text 41"/>
          <p:cNvSpPr txBox="1"/>
          <p:nvPr/>
        </p:nvSpPr>
        <p:spPr>
          <a:xfrm>
            <a:off x="7406640" y="49651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65E8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対象：管理者</a:t>
            </a:r>
            <a:endParaRPr lang="en-US" sz="1100" dirty="0"/>
          </a:p>
        </p:txBody>
      </p:sp>
      <p:sp>
        <p:nvSpPr>
          <p:cNvPr id="53" name="Shape 42"/>
          <p:cNvSpPr/>
          <p:nvPr/>
        </p:nvSpPr>
        <p:spPr>
          <a:xfrm>
            <a:off x="457200" y="5440680"/>
            <a:ext cx="548640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3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4" name="Shape 43"/>
          <p:cNvSpPr/>
          <p:nvPr/>
        </p:nvSpPr>
        <p:spPr>
          <a:xfrm>
            <a:off x="621792" y="5605272"/>
            <a:ext cx="457200" cy="457200"/>
          </a:xfrm>
          <a:prstGeom prst="ellipse">
            <a:avLst/>
          </a:prstGeom>
          <a:solidFill>
            <a:srgbClr val="4A9DB8"/>
          </a:solidFill>
          <a:ln/>
        </p:spPr>
        <p:txBody>
          <a:bodyPr/>
          <a:p/>
        </p:txBody>
      </p:sp>
      <p:pic>
        <p:nvPicPr>
          <p:cNvPr id="55" name="Image 9" descr="/home/claude/creepy_pptx/icons/f9_userscog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1228" y="5664708"/>
            <a:ext cx="338328" cy="338328"/>
          </a:xfrm>
          <a:prstGeom prst="rect">
            <a:avLst/>
          </a:prstGeom>
        </p:spPr>
      </p:pic>
      <p:sp>
        <p:nvSpPr>
          <p:cNvPr id="56" name="Text 44"/>
          <p:cNvSpPr txBox="1"/>
          <p:nvPr/>
        </p:nvSpPr>
        <p:spPr>
          <a:xfrm>
            <a:off x="1143000" y="5440680"/>
            <a:ext cx="548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B6B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n-US" sz="1500" dirty="0"/>
          </a:p>
        </p:txBody>
      </p:sp>
      <p:sp>
        <p:nvSpPr>
          <p:cNvPr id="57" name="Text 45"/>
          <p:cNvSpPr txBox="1"/>
          <p:nvPr/>
        </p:nvSpPr>
        <p:spPr>
          <a:xfrm>
            <a:off x="1645920" y="551383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会員情報管理</a:t>
            </a:r>
            <a:endParaRPr lang="en-US" sz="1400" dirty="0"/>
          </a:p>
        </p:txBody>
      </p:sp>
      <p:sp>
        <p:nvSpPr>
          <p:cNvPr id="58" name="Text 46"/>
          <p:cNvSpPr txBox="1"/>
          <p:nvPr/>
        </p:nvSpPr>
        <p:spPr>
          <a:xfrm>
            <a:off x="1645920" y="58795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65E8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対象：管理者</a:t>
            </a:r>
            <a:endParaRPr lang="en-US" sz="1100" dirty="0"/>
          </a:p>
        </p:txBody>
      </p:sp>
      <p:sp>
        <p:nvSpPr>
          <p:cNvPr id="59" name="Shape 47"/>
          <p:cNvSpPr/>
          <p:nvPr/>
        </p:nvSpPr>
        <p:spPr>
          <a:xfrm>
            <a:off x="6217920" y="5440680"/>
            <a:ext cx="548640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3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0" name="Shape 48"/>
          <p:cNvSpPr/>
          <p:nvPr/>
        </p:nvSpPr>
        <p:spPr>
          <a:xfrm>
            <a:off x="6382512" y="5605272"/>
            <a:ext cx="457200" cy="457200"/>
          </a:xfrm>
          <a:prstGeom prst="ellipse">
            <a:avLst/>
          </a:prstGeom>
          <a:solidFill>
            <a:srgbClr val="4A9DB8"/>
          </a:solidFill>
          <a:ln/>
        </p:spPr>
        <p:txBody>
          <a:bodyPr/>
          <a:p/>
        </p:txBody>
      </p:sp>
      <p:pic>
        <p:nvPicPr>
          <p:cNvPr id="61" name="Image 10" descr="/home/claude/creepy_pptx/icons/f10_star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41948" y="5664708"/>
            <a:ext cx="338328" cy="338328"/>
          </a:xfrm>
          <a:prstGeom prst="rect">
            <a:avLst/>
          </a:prstGeom>
        </p:spPr>
      </p:pic>
      <p:sp>
        <p:nvSpPr>
          <p:cNvPr id="62" name="Text 49"/>
          <p:cNvSpPr txBox="1"/>
          <p:nvPr/>
        </p:nvSpPr>
        <p:spPr>
          <a:xfrm>
            <a:off x="6903720" y="5440680"/>
            <a:ext cx="548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B6B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500" dirty="0"/>
          </a:p>
        </p:txBody>
      </p:sp>
      <p:sp>
        <p:nvSpPr>
          <p:cNvPr id="63" name="Text 50"/>
          <p:cNvSpPr txBox="1"/>
          <p:nvPr/>
        </p:nvSpPr>
        <p:spPr>
          <a:xfrm>
            <a:off x="7406640" y="551383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満足度評価【新設】</a:t>
            </a:r>
            <a:endParaRPr lang="en-US" sz="1400" dirty="0"/>
          </a:p>
        </p:txBody>
      </p:sp>
      <p:sp>
        <p:nvSpPr>
          <p:cNvPr id="64" name="Text 51"/>
          <p:cNvSpPr txBox="1"/>
          <p:nvPr/>
        </p:nvSpPr>
        <p:spPr>
          <a:xfrm>
            <a:off x="7406640" y="58795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65E8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対象：一般会員</a:t>
            </a:r>
            <a:endParaRPr lang="en-US" sz="1100" dirty="0"/>
          </a:p>
        </p:txBody>
      </p:sp>
      <p:sp>
        <p:nvSpPr>
          <p:cNvPr id="65" name="Text 52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出典：基本設計書 ver1.4（P2C：Creepy Code）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38912"/>
            <a:ext cx="566928" cy="566928"/>
          </a:xfrm>
          <a:prstGeom prst="ellipse">
            <a:avLst/>
          </a:prstGeom>
          <a:solidFill>
            <a:srgbClr val="4A9DB8"/>
          </a:solidFill>
          <a:ln/>
        </p:spPr>
        <p:txBody>
          <a:bodyPr/>
          <a:p/>
        </p:txBody>
      </p:sp>
      <p:pic>
        <p:nvPicPr>
          <p:cNvPr id="3" name="Image 0" descr="/home/claude/creepy_pptx/icons/f1_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901" y="512613"/>
            <a:ext cx="419527" cy="41952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07008" y="38404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2933"/>
                </a:solidFill>
                <a:latin typeface="BIZ UDPMincho" pitchFamily="34" charset="0"/>
                <a:ea typeface="BIZ UDPMincho" pitchFamily="34" charset="-122"/>
                <a:cs typeface="BIZ UDPMincho" pitchFamily="34" charset="-120"/>
              </a:rPr>
              <a:t>認証まわりは安全性と利便性を両立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1207008" y="1078992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E8EEF2"/>
          </a:solidFill>
          <a:ln/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1207008" y="107899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5E8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対象：全員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9692640" y="502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65E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機能 01 / 10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1691640"/>
            <a:ext cx="1124712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3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868680" y="2011680"/>
            <a:ext cx="104241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ct val="125000"/>
              </a:lnSpc>
              <a:spcAft>
                <a:spcPts val="1200"/>
              </a:spcAft>
              <a:buSzPct val="100000"/>
              <a:buChar char="▪"/>
            </a:pPr>
            <a:r>
              <a:rPr lang="en-US" sz="19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パスワードはBCryptでハッシュ化して保存</a:t>
            </a:r>
            <a:endParaRPr lang="en-US" sz="1900" dirty="0"/>
          </a:p>
          <a:p>
            <a:pPr algn="l" marL="279400" indent="-279400">
              <a:lnSpc>
                <a:spcPct val="125000"/>
              </a:lnSpc>
              <a:spcAft>
                <a:spcPts val="1200"/>
              </a:spcAft>
              <a:buSzPct val="100000"/>
              <a:buChar char="▪"/>
            </a:pPr>
            <a:r>
              <a:rPr lang="en-US" sz="19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ログイン後、種別に応じて画面を自動振り分け</a:t>
            </a:r>
            <a:endParaRPr lang="en-US" sz="1900" dirty="0"/>
          </a:p>
          <a:p>
            <a:pPr algn="l" marL="279400" indent="-279400">
              <a:lnSpc>
                <a:spcPct val="125000"/>
              </a:lnSpc>
              <a:spcAft>
                <a:spcPts val="1200"/>
              </a:spcAft>
              <a:buSzPct val="100000"/>
              <a:buChar char="▪"/>
            </a:pPr>
            <a:r>
              <a:rPr lang="en-US" sz="19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30分間操作がなければ自動的にログアウト</a:t>
            </a:r>
            <a:endParaRPr lang="en-US" sz="1900" dirty="0"/>
          </a:p>
          <a:p>
            <a:pPr algn="l" marL="279400" indent="-279400">
              <a:lnSpc>
                <a:spcPct val="125000"/>
              </a:lnSpc>
              <a:spcAft>
                <a:spcPts val="1200"/>
              </a:spcAft>
              <a:buSzPct val="100000"/>
              <a:buChar char="▪"/>
            </a:pPr>
            <a:r>
              <a:rPr lang="en-US" sz="19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再設定は使い捨てURLを送信（有効期限30分）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出典：基本設計書 ver1.4（P2C：Creepy Code）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38912"/>
            <a:ext cx="566928" cy="566928"/>
          </a:xfrm>
          <a:prstGeom prst="ellipse">
            <a:avLst/>
          </a:prstGeom>
          <a:solidFill>
            <a:srgbClr val="4A9DB8"/>
          </a:solidFill>
          <a:ln/>
        </p:spPr>
        <p:txBody>
          <a:bodyPr/>
          <a:p/>
        </p:txBody>
      </p:sp>
      <p:pic>
        <p:nvPicPr>
          <p:cNvPr id="3" name="Image 0" descr="/home/claude/creepy_pptx/icons/f2_clip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901" y="512613"/>
            <a:ext cx="419527" cy="41952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07008" y="38404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2933"/>
                </a:solidFill>
                <a:latin typeface="BIZ UDPMincho" pitchFamily="34" charset="0"/>
                <a:ea typeface="BIZ UDPMincho" pitchFamily="34" charset="-122"/>
                <a:cs typeface="BIZ UDPMincho" pitchFamily="34" charset="-120"/>
              </a:rPr>
              <a:t>4ステップで、プランの大枠を無理なく整理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1207008" y="1078992"/>
            <a:ext cx="1687068" cy="329184"/>
          </a:xfrm>
          <a:prstGeom prst="roundRect">
            <a:avLst>
              <a:gd name="adj" fmla="val 50000"/>
            </a:avLst>
          </a:prstGeom>
          <a:solidFill>
            <a:srgbClr val="E8EEF2"/>
          </a:solidFill>
          <a:ln/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1207008" y="1078992"/>
            <a:ext cx="16870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5E8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対象：一般会員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9692640" y="502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65E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機能 02 / 10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1691640"/>
            <a:ext cx="1124712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3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868680" y="2011680"/>
            <a:ext cx="104241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ct val="125000"/>
              </a:lnSpc>
              <a:spcAft>
                <a:spcPts val="1200"/>
              </a:spcAft>
              <a:buSzPct val="100000"/>
              <a:buChar char="▪"/>
            </a:pPr>
            <a:r>
              <a:rPr lang="en-US" sz="19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Step1 アーキタイプ選択：5種類から1つ選択</a:t>
            </a:r>
            <a:endParaRPr lang="en-US" sz="1900" dirty="0"/>
          </a:p>
          <a:p>
            <a:pPr algn="l" marL="279400" indent="-279400">
              <a:lnSpc>
                <a:spcPct val="125000"/>
              </a:lnSpc>
              <a:spcAft>
                <a:spcPts val="1200"/>
              </a:spcAft>
              <a:buSzPct val="100000"/>
              <a:buChar char="▪"/>
            </a:pPr>
            <a:r>
              <a:rPr lang="en-US" sz="19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Step2 ビジュアル：式場・装飾をスワイプ選択</a:t>
            </a:r>
            <a:endParaRPr lang="en-US" sz="1900" dirty="0"/>
          </a:p>
          <a:p>
            <a:pPr algn="l" marL="279400" indent="-279400">
              <a:lnSpc>
                <a:spcPct val="125000"/>
              </a:lnSpc>
              <a:spcAft>
                <a:spcPts val="1200"/>
              </a:spcAft>
              <a:buSzPct val="100000"/>
              <a:buChar char="▪"/>
            </a:pPr>
            <a:r>
              <a:rPr lang="en-US" sz="19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Step3 基本情報入力：日程と予算（未定も可）</a:t>
            </a:r>
            <a:endParaRPr lang="en-US" sz="1900" dirty="0"/>
          </a:p>
          <a:p>
            <a:pPr algn="l" marL="279400" indent="-279400">
              <a:lnSpc>
                <a:spcPct val="125000"/>
              </a:lnSpc>
              <a:spcAft>
                <a:spcPts val="1200"/>
              </a:spcAft>
              <a:buSzPct val="100000"/>
              <a:buChar char="▪"/>
            </a:pPr>
            <a:r>
              <a:rPr lang="en-US" sz="19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Step4 タグ選択：迷う点・こだわりを任意選択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出典：基本設計書 ver1.4（P2C：Creepy Code）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38912"/>
            <a:ext cx="566928" cy="566928"/>
          </a:xfrm>
          <a:prstGeom prst="ellipse">
            <a:avLst/>
          </a:prstGeom>
          <a:solidFill>
            <a:srgbClr val="4A9DB8"/>
          </a:solidFill>
          <a:ln/>
        </p:spPr>
        <p:txBody>
          <a:bodyPr/>
          <a:p/>
        </p:txBody>
      </p:sp>
      <p:pic>
        <p:nvPicPr>
          <p:cNvPr id="3" name="Image 0" descr="/home/claude/creepy_pptx/icons/f3_com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901" y="512613"/>
            <a:ext cx="419527" cy="41952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07008" y="38404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2933"/>
                </a:solidFill>
                <a:latin typeface="BIZ UDPMincho" pitchFamily="34" charset="0"/>
                <a:ea typeface="BIZ UDPMincho" pitchFamily="34" charset="-122"/>
                <a:cs typeface="BIZ UDPMincho" pitchFamily="34" charset="-120"/>
              </a:rPr>
              <a:t>大枠の回答から、AIが価値観を掘り下げる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1207008" y="1078992"/>
            <a:ext cx="1687068" cy="329184"/>
          </a:xfrm>
          <a:prstGeom prst="roundRect">
            <a:avLst>
              <a:gd name="adj" fmla="val 50000"/>
            </a:avLst>
          </a:prstGeom>
          <a:solidFill>
            <a:srgbClr val="E8EEF2"/>
          </a:solidFill>
          <a:ln/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1207008" y="1078992"/>
            <a:ext cx="16870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5E8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対象：一般会員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9692640" y="502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65E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機能 03 / 10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1691640"/>
            <a:ext cx="1124712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3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868680" y="2011680"/>
            <a:ext cx="104241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ct val="125000"/>
              </a:lnSpc>
              <a:spcAft>
                <a:spcPts val="1200"/>
              </a:spcAft>
              <a:buSzPct val="100000"/>
              <a:buChar char="▪"/>
            </a:pPr>
            <a:r>
              <a:rPr lang="en-US" sz="19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事前ヒアリングの回答をもとに追加質問を3〜5問生成</a:t>
            </a:r>
            <a:endParaRPr lang="en-US" sz="1900" dirty="0"/>
          </a:p>
          <a:p>
            <a:pPr algn="l" marL="279400" indent="-279400">
              <a:lnSpc>
                <a:spcPct val="125000"/>
              </a:lnSpc>
              <a:spcAft>
                <a:spcPts val="1200"/>
              </a:spcAft>
              <a:buSzPct val="100000"/>
              <a:buChar char="▪"/>
            </a:pPr>
            <a:r>
              <a:rPr lang="en-US" sz="19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譲れないポイントや削ってよい部分を質問</a:t>
            </a:r>
            <a:endParaRPr lang="en-US" sz="1900" dirty="0"/>
          </a:p>
          <a:p>
            <a:pPr algn="l" marL="279400" indent="-279400">
              <a:lnSpc>
                <a:spcPct val="125000"/>
              </a:lnSpc>
              <a:spcAft>
                <a:spcPts val="1200"/>
              </a:spcAft>
              <a:buSzPct val="100000"/>
              <a:buChar char="▪"/>
            </a:pPr>
            <a:r>
              <a:rPr lang="en-US" sz="19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回答内容を「価値観の要点」としてAIが整理</a:t>
            </a:r>
            <a:endParaRPr lang="en-US" sz="1900" dirty="0"/>
          </a:p>
          <a:p>
            <a:pPr algn="l" marL="279400" indent="-279400">
              <a:lnSpc>
                <a:spcPct val="125000"/>
              </a:lnSpc>
              <a:spcAft>
                <a:spcPts val="1200"/>
              </a:spcAft>
              <a:buSzPct val="100000"/>
              <a:buChar char="▪"/>
            </a:pPr>
            <a:r>
              <a:rPr lang="en-US" sz="19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プラン雛形とあわせて担当プランナーへ申し送り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出典：基本設計書 ver1.4（P2C：Creepy Code）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38912"/>
            <a:ext cx="566928" cy="566928"/>
          </a:xfrm>
          <a:prstGeom prst="ellipse">
            <a:avLst/>
          </a:prstGeom>
          <a:solidFill>
            <a:srgbClr val="4A9DB8"/>
          </a:solidFill>
          <a:ln/>
        </p:spPr>
        <p:txBody>
          <a:bodyPr/>
          <a:p/>
        </p:txBody>
      </p:sp>
      <p:pic>
        <p:nvPicPr>
          <p:cNvPr id="3" name="Image 0" descr="/home/claude/creepy_pptx/icons/f4_cal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901" y="512613"/>
            <a:ext cx="419527" cy="41952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07008" y="38404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2933"/>
                </a:solidFill>
                <a:latin typeface="BIZ UDPMincho" pitchFamily="34" charset="0"/>
                <a:ea typeface="BIZ UDPMincho" pitchFamily="34" charset="-122"/>
                <a:cs typeface="BIZ UDPMincho" pitchFamily="34" charset="-120"/>
              </a:rPr>
              <a:t>費用は常に見える化、超過時は節約提案も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1207008" y="1078992"/>
            <a:ext cx="2702052" cy="329184"/>
          </a:xfrm>
          <a:prstGeom prst="roundRect">
            <a:avLst>
              <a:gd name="adj" fmla="val 50000"/>
            </a:avLst>
          </a:prstGeom>
          <a:solidFill>
            <a:srgbClr val="E8EEF2"/>
          </a:solidFill>
          <a:ln/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1207008" y="1078992"/>
            <a:ext cx="27020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5E8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対象：一般会員・プランナー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9692640" y="502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65E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機能 04 / 10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1691640"/>
            <a:ext cx="1124712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3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868680" y="2011680"/>
            <a:ext cx="104241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ct val="125000"/>
              </a:lnSpc>
              <a:spcAft>
                <a:spcPts val="1200"/>
              </a:spcAft>
              <a:buSzPct val="100000"/>
              <a:buChar char="▪"/>
            </a:pPr>
            <a:r>
              <a:rPr lang="en-US" sz="19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オプション変更で累計金額を即時更新（1秒以内）</a:t>
            </a:r>
            <a:endParaRPr lang="en-US" sz="1900" dirty="0"/>
          </a:p>
          <a:p>
            <a:pPr algn="l" marL="279400" indent="-279400">
              <a:lnSpc>
                <a:spcPct val="125000"/>
              </a:lnSpc>
              <a:spcAft>
                <a:spcPts val="1200"/>
              </a:spcAft>
              <a:buSzPct val="100000"/>
              <a:buChar char="▪"/>
            </a:pPr>
            <a:r>
              <a:rPr lang="en-US" sz="19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予算残額を表示し、超過時はアラートで通知</a:t>
            </a:r>
            <a:endParaRPr lang="en-US" sz="1900" dirty="0"/>
          </a:p>
          <a:p>
            <a:pPr algn="l" marL="279400" indent="-279400">
              <a:lnSpc>
                <a:spcPct val="125000"/>
              </a:lnSpc>
              <a:spcAft>
                <a:spcPts val="1200"/>
              </a:spcAft>
              <a:buSzPct val="100000"/>
              <a:buChar char="▪"/>
            </a:pPr>
            <a:r>
              <a:rPr lang="en-US" sz="19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確定金額と変動可能性がある金額を色分け表示</a:t>
            </a:r>
            <a:endParaRPr lang="en-US" sz="1900" dirty="0"/>
          </a:p>
          <a:p>
            <a:pPr algn="l" marL="279400" indent="-279400">
              <a:lnSpc>
                <a:spcPct val="125000"/>
              </a:lnSpc>
              <a:spcAft>
                <a:spcPts val="1200"/>
              </a:spcAft>
              <a:buSzPct val="100000"/>
              <a:buChar char="▪"/>
            </a:pPr>
            <a:r>
              <a:rPr lang="en-US" sz="19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AIプラン雛形の生成直後から利用可能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出典：基本設計書 ver1.4（P2C：Creepy Code）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38912"/>
            <a:ext cx="566928" cy="566928"/>
          </a:xfrm>
          <a:prstGeom prst="ellipse">
            <a:avLst/>
          </a:prstGeom>
          <a:solidFill>
            <a:srgbClr val="4A9DB8"/>
          </a:solidFill>
          <a:ln/>
        </p:spPr>
        <p:txBody>
          <a:bodyPr/>
          <a:p/>
        </p:txBody>
      </p:sp>
      <p:pic>
        <p:nvPicPr>
          <p:cNvPr id="3" name="Image 0" descr="/home/claude/creepy_pptx/icons/f5_mag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901" y="512613"/>
            <a:ext cx="419527" cy="41952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07008" y="38404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2933"/>
                </a:solidFill>
                <a:latin typeface="BIZ UDPMincho" pitchFamily="34" charset="0"/>
                <a:ea typeface="BIZ UDPMincho" pitchFamily="34" charset="-122"/>
                <a:cs typeface="BIZ UDPMincho" pitchFamily="34" charset="-120"/>
              </a:rPr>
              <a:t>Gemini APIが24時間、プランの叩き台を作る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1207008" y="1078992"/>
            <a:ext cx="2025396" cy="329184"/>
          </a:xfrm>
          <a:prstGeom prst="roundRect">
            <a:avLst>
              <a:gd name="adj" fmla="val 50000"/>
            </a:avLst>
          </a:prstGeom>
          <a:solidFill>
            <a:srgbClr val="E8EEF2"/>
          </a:solidFill>
          <a:ln/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1207008" y="1078992"/>
            <a:ext cx="20253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5E8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対象：AI（自動）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9692640" y="502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65E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機能 05 / 10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1691640"/>
            <a:ext cx="1124712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3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868680" y="2011680"/>
            <a:ext cx="104241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ct val="125000"/>
              </a:lnSpc>
              <a:spcAft>
                <a:spcPts val="1200"/>
              </a:spcAft>
              <a:buSzPct val="100000"/>
              <a:buChar char="▪"/>
            </a:pPr>
            <a:r>
              <a:rPr lang="en-US" sz="19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事前ヒアリングと深掘り質問の回答から大枠を自動生成</a:t>
            </a:r>
            <a:endParaRPr lang="en-US" sz="1900" dirty="0"/>
          </a:p>
          <a:p>
            <a:pPr algn="l" marL="279400" indent="-279400">
              <a:lnSpc>
                <a:spcPct val="125000"/>
              </a:lnSpc>
              <a:spcAft>
                <a:spcPts val="1200"/>
              </a:spcAft>
              <a:buSzPct val="100000"/>
              <a:buChar char="▪"/>
            </a:pPr>
            <a:r>
              <a:rPr lang="en-US" sz="19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会場案・料理スタイル・演出案などを提示</a:t>
            </a:r>
            <a:endParaRPr lang="en-US" sz="1900" dirty="0"/>
          </a:p>
          <a:p>
            <a:pPr algn="l" marL="279400" indent="-279400">
              <a:lnSpc>
                <a:spcPct val="125000"/>
              </a:lnSpc>
              <a:spcAft>
                <a:spcPts val="1200"/>
              </a:spcAft>
              <a:buSzPct val="100000"/>
              <a:buChar char="▪"/>
            </a:pPr>
            <a:r>
              <a:rPr lang="en-US" sz="19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「大事な点」「削ってよい点」も同時に整理</a:t>
            </a:r>
            <a:endParaRPr lang="en-US" sz="1900" dirty="0"/>
          </a:p>
          <a:p>
            <a:pPr algn="l" marL="279400" indent="-279400">
              <a:lnSpc>
                <a:spcPct val="125000"/>
              </a:lnSpc>
              <a:spcAft>
                <a:spcPts val="1200"/>
              </a:spcAft>
              <a:buSzPct val="100000"/>
              <a:buChar char="▪"/>
            </a:pPr>
            <a:r>
              <a:rPr lang="en-US" sz="19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あくまで叩き台、最終提案はプランナーが責任を持つ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出典：基本設計書 ver1.4（P2C：Creepy Code）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38912"/>
            <a:ext cx="566928" cy="566928"/>
          </a:xfrm>
          <a:prstGeom prst="ellipse">
            <a:avLst/>
          </a:prstGeom>
          <a:solidFill>
            <a:srgbClr val="4A9DB8"/>
          </a:solidFill>
          <a:ln/>
        </p:spPr>
        <p:txBody>
          <a:bodyPr/>
          <a:p/>
        </p:txBody>
      </p:sp>
      <p:pic>
        <p:nvPicPr>
          <p:cNvPr id="3" name="Image 0" descr="/home/claude/creepy_pptx/icons/f6_ti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901" y="512613"/>
            <a:ext cx="419527" cy="41952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07008" y="38404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2933"/>
                </a:solidFill>
                <a:latin typeface="BIZ UDPMincho" pitchFamily="34" charset="0"/>
                <a:ea typeface="BIZ UDPMincho" pitchFamily="34" charset="-122"/>
                <a:cs typeface="BIZ UDPMincho" pitchFamily="34" charset="-120"/>
              </a:rPr>
              <a:t>AIの下ごしらえが、提案品質のばらつきを抑える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1207008" y="1078992"/>
            <a:ext cx="1856232" cy="329184"/>
          </a:xfrm>
          <a:prstGeom prst="roundRect">
            <a:avLst>
              <a:gd name="adj" fmla="val 50000"/>
            </a:avLst>
          </a:prstGeom>
          <a:solidFill>
            <a:srgbClr val="E8EEF2"/>
          </a:solidFill>
          <a:ln/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1207008" y="1078992"/>
            <a:ext cx="1856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5E8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対象：プランナー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9692640" y="502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65E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機能 06 / 10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1691640"/>
            <a:ext cx="1124712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3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868680" y="2011680"/>
            <a:ext cx="104241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ct val="125000"/>
              </a:lnSpc>
              <a:spcAft>
                <a:spcPts val="1200"/>
              </a:spcAft>
              <a:buSzPct val="100000"/>
              <a:buChar char="▪"/>
            </a:pPr>
            <a:r>
              <a:rPr lang="en-US" sz="19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価値観の要点を提示し、意図を推測する手間を削減</a:t>
            </a:r>
            <a:endParaRPr lang="en-US" sz="1900" dirty="0"/>
          </a:p>
          <a:p>
            <a:pPr algn="l" marL="279400" indent="-279400">
              <a:lnSpc>
                <a:spcPct val="125000"/>
              </a:lnSpc>
              <a:spcAft>
                <a:spcPts val="1200"/>
              </a:spcAft>
              <a:buSzPct val="100000"/>
              <a:buChar char="▪"/>
            </a:pPr>
            <a:r>
              <a:rPr lang="en-US" sz="19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決定事項と推奨期限のチェックリストを自動生成</a:t>
            </a:r>
            <a:endParaRPr lang="en-US" sz="1900" dirty="0"/>
          </a:p>
          <a:p>
            <a:pPr algn="l" marL="279400" indent="-279400">
              <a:lnSpc>
                <a:spcPct val="125000"/>
              </a:lnSpc>
              <a:spcAft>
                <a:spcPts val="1200"/>
              </a:spcAft>
              <a:buSzPct val="100000"/>
              <a:buChar char="▪"/>
            </a:pPr>
            <a:r>
              <a:rPr lang="en-US" sz="19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類似条件のカップル事例を提示し、提案の根拠を強化</a:t>
            </a:r>
            <a:endParaRPr lang="en-US" sz="1900" dirty="0"/>
          </a:p>
          <a:p>
            <a:pPr algn="l" marL="279400" indent="-279400">
              <a:lnSpc>
                <a:spcPct val="125000"/>
              </a:lnSpc>
              <a:spcAft>
                <a:spcPts val="1200"/>
              </a:spcAft>
              <a:buSzPct val="100000"/>
              <a:buChar char="▪"/>
            </a:pPr>
            <a:r>
              <a:rPr lang="en-US" sz="19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AI雛形の修正差分を記録し、継続改善に活用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出典：基本設計書 ver1.4（P2C：Creepy Code）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38912"/>
            <a:ext cx="566928" cy="566928"/>
          </a:xfrm>
          <a:prstGeom prst="ellipse">
            <a:avLst/>
          </a:prstGeom>
          <a:solidFill>
            <a:srgbClr val="4A9DB8"/>
          </a:solidFill>
          <a:ln/>
        </p:spPr>
        <p:txBody>
          <a:bodyPr/>
          <a:p/>
        </p:txBody>
      </p:sp>
      <p:pic>
        <p:nvPicPr>
          <p:cNvPr id="3" name="Image 0" descr="/home/claude/creepy_pptx/icons/f7_comm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901" y="512613"/>
            <a:ext cx="419527" cy="41952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07008" y="38404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2933"/>
                </a:solidFill>
                <a:latin typeface="BIZ UDPMincho" pitchFamily="34" charset="0"/>
                <a:ea typeface="BIZ UDPMincho" pitchFamily="34" charset="-122"/>
                <a:cs typeface="BIZ UDPMincho" pitchFamily="34" charset="-120"/>
              </a:rPr>
              <a:t>顧客とプランナーをリアルタイムでつなぐ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1207008" y="1078992"/>
            <a:ext cx="2702052" cy="329184"/>
          </a:xfrm>
          <a:prstGeom prst="roundRect">
            <a:avLst>
              <a:gd name="adj" fmla="val 50000"/>
            </a:avLst>
          </a:prstGeom>
          <a:solidFill>
            <a:srgbClr val="E8EEF2"/>
          </a:solidFill>
          <a:ln/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1207008" y="1078992"/>
            <a:ext cx="27020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5E8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対象：一般会員・プランナー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9692640" y="502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65E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機能 07 / 10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1691640"/>
            <a:ext cx="1124712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3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868680" y="2011680"/>
            <a:ext cx="104241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ct val="125000"/>
              </a:lnSpc>
              <a:spcAft>
                <a:spcPts val="1200"/>
              </a:spcAft>
              <a:buSzPct val="100000"/>
              <a:buChar char="▪"/>
            </a:pPr>
            <a:r>
              <a:rPr lang="en-US" sz="19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アプリ内でリアルタイムにメッセージをやり取り</a:t>
            </a:r>
            <a:endParaRPr lang="en-US" sz="1900" dirty="0"/>
          </a:p>
          <a:p>
            <a:pPr algn="l" marL="279400" indent="-279400">
              <a:lnSpc>
                <a:spcPct val="125000"/>
              </a:lnSpc>
              <a:spcAft>
                <a:spcPts val="1200"/>
              </a:spcAft>
              <a:buSzPct val="100000"/>
              <a:buChar char="▪"/>
            </a:pPr>
            <a:r>
              <a:rPr lang="en-US" sz="19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画像・PDFの添付・送受信に対応（上限10MB）</a:t>
            </a:r>
            <a:endParaRPr lang="en-US" sz="1900" dirty="0"/>
          </a:p>
          <a:p>
            <a:pPr algn="l" marL="279400" indent="-279400">
              <a:lnSpc>
                <a:spcPct val="125000"/>
              </a:lnSpc>
              <a:spcAft>
                <a:spcPts val="1200"/>
              </a:spcAft>
              <a:buSzPct val="100000"/>
              <a:buChar char="▪"/>
            </a:pPr>
            <a:r>
              <a:rPr lang="en-US" sz="19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添付ファイルは保存先フォルダに保存し、場所（パス）で参照</a:t>
            </a:r>
            <a:endParaRPr lang="en-US" sz="1900" dirty="0"/>
          </a:p>
          <a:p>
            <a:pPr algn="l" marL="279400" indent="-279400">
              <a:lnSpc>
                <a:spcPct val="125000"/>
              </a:lnSpc>
              <a:spcAft>
                <a:spcPts val="1200"/>
              </a:spcAft>
              <a:buSzPct val="100000"/>
              <a:buChar char="▪"/>
            </a:pPr>
            <a:r>
              <a:rPr lang="en-US" sz="19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メッセージはプランIDに紐づき対象が明確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出典：基本設計書 ver1.4（P2C：Creepy Code）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38912"/>
            <a:ext cx="566928" cy="566928"/>
          </a:xfrm>
          <a:prstGeom prst="ellipse">
            <a:avLst/>
          </a:prstGeom>
          <a:solidFill>
            <a:srgbClr val="4A9DB8"/>
          </a:solidFill>
          <a:ln/>
        </p:spPr>
        <p:txBody>
          <a:bodyPr/>
          <a:p/>
        </p:txBody>
      </p:sp>
      <p:pic>
        <p:nvPicPr>
          <p:cNvPr id="3" name="Image 0" descr="/home/claude/creepy_pptx/icons/f8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901" y="512613"/>
            <a:ext cx="419527" cy="41952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07008" y="38404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2933"/>
                </a:solidFill>
                <a:latin typeface="BIZ UDPMincho" pitchFamily="34" charset="0"/>
                <a:ea typeface="BIZ UDPMincho" pitchFamily="34" charset="-122"/>
                <a:cs typeface="BIZ UDPMincho" pitchFamily="34" charset="-120"/>
              </a:rPr>
              <a:t>満足度と修正差分を数値で可視化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1207008" y="1078992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E8EEF2"/>
          </a:solidFill>
          <a:ln/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1207008" y="107899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5E8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対象：管理者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9692640" y="502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65E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機能 08 / 10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1691640"/>
            <a:ext cx="1124712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3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868680" y="2011680"/>
            <a:ext cx="104241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ct val="125000"/>
              </a:lnSpc>
              <a:spcAft>
                <a:spcPts val="1200"/>
              </a:spcAft>
              <a:buSzPct val="100000"/>
              <a:buChar char="▪"/>
            </a:pPr>
            <a:r>
              <a:rPr lang="en-US" sz="19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プランナーごとの顧客満足度スコアを一覧表示</a:t>
            </a:r>
            <a:endParaRPr lang="en-US" sz="1900" dirty="0"/>
          </a:p>
          <a:p>
            <a:pPr algn="l" marL="279400" indent="-279400">
              <a:lnSpc>
                <a:spcPct val="125000"/>
              </a:lnSpc>
              <a:spcAft>
                <a:spcPts val="1200"/>
              </a:spcAft>
              <a:buSzPct val="100000"/>
              <a:buChar char="▪"/>
            </a:pPr>
            <a:r>
              <a:rPr lang="en-US" sz="19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AI雛形の修正差分数もあわせて確認</a:t>
            </a:r>
            <a:endParaRPr lang="en-US" sz="1900" dirty="0"/>
          </a:p>
          <a:p>
            <a:pPr algn="l" marL="279400" indent="-279400">
              <a:lnSpc>
                <a:spcPct val="125000"/>
              </a:lnSpc>
              <a:spcAft>
                <a:spcPts val="1200"/>
              </a:spcAft>
              <a:buSzPct val="100000"/>
              <a:buChar char="▪"/>
            </a:pPr>
            <a:r>
              <a:rPr lang="en-US" sz="19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品質が底上げされているかを定量的に把握</a:t>
            </a:r>
            <a:endParaRPr lang="en-US" sz="1900" dirty="0"/>
          </a:p>
          <a:p>
            <a:pPr algn="l" marL="279400" indent="-279400">
              <a:lnSpc>
                <a:spcPct val="125000"/>
              </a:lnSpc>
              <a:spcAft>
                <a:spcPts val="1200"/>
              </a:spcAft>
              <a:buSzPct val="100000"/>
              <a:buChar char="▪"/>
            </a:pPr>
            <a:r>
              <a:rPr lang="en-US" sz="19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継続的な改善と、プランナー評価に活用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出典：基本設計書 ver1.4（P2C：Creepy Code）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38912"/>
            <a:ext cx="566928" cy="566928"/>
          </a:xfrm>
          <a:prstGeom prst="ellipse">
            <a:avLst/>
          </a:prstGeom>
          <a:solidFill>
            <a:srgbClr val="4A9DB8"/>
          </a:solidFill>
          <a:ln/>
        </p:spPr>
        <p:txBody>
          <a:bodyPr/>
          <a:p/>
        </p:txBody>
      </p:sp>
      <p:pic>
        <p:nvPicPr>
          <p:cNvPr id="3" name="Image 0" descr="/home/claude/creepy_pptx/icons/f9_usersco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901" y="512613"/>
            <a:ext cx="419527" cy="41952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07008" y="38404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2933"/>
                </a:solidFill>
                <a:latin typeface="BIZ UDPMincho" pitchFamily="34" charset="0"/>
                <a:ea typeface="BIZ UDPMincho" pitchFamily="34" charset="-122"/>
                <a:cs typeface="BIZ UDPMincho" pitchFamily="34" charset="-120"/>
              </a:rPr>
              <a:t>会員情報を安全に閲覧・変更・削除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1207008" y="1078992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E8EEF2"/>
          </a:solidFill>
          <a:ln/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1207008" y="107899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5E8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対象：管理者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9692640" y="502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65E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機能 09 / 10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1691640"/>
            <a:ext cx="1124712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3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868680" y="2011680"/>
            <a:ext cx="104241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ct val="125000"/>
              </a:lnSpc>
              <a:spcAft>
                <a:spcPts val="1200"/>
              </a:spcAft>
              <a:buSzPct val="100000"/>
              <a:buChar char="▪"/>
            </a:pPr>
            <a:r>
              <a:rPr lang="en-US" sz="19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氏名・メールアドレス・登録日などを一覧で確認</a:t>
            </a:r>
            <a:endParaRPr lang="en-US" sz="1900" dirty="0"/>
          </a:p>
          <a:p>
            <a:pPr algn="l" marL="279400" indent="-279400">
              <a:lnSpc>
                <a:spcPct val="125000"/>
              </a:lnSpc>
              <a:spcAft>
                <a:spcPts val="1200"/>
              </a:spcAft>
              <a:buSzPct val="100000"/>
              <a:buChar char="▪"/>
            </a:pPr>
            <a:r>
              <a:rPr lang="en-US" sz="19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特定の会員情報を検索・変更・削除</a:t>
            </a:r>
            <a:endParaRPr lang="en-US" sz="1900" dirty="0"/>
          </a:p>
          <a:p>
            <a:pPr algn="l" marL="279400" indent="-279400">
              <a:lnSpc>
                <a:spcPct val="125000"/>
              </a:lnSpc>
              <a:spcAft>
                <a:spcPts val="1200"/>
              </a:spcAft>
              <a:buSzPct val="100000"/>
              <a:buChar char="▪"/>
            </a:pPr>
            <a:r>
              <a:rPr lang="en-US" sz="19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削除は論理削除、データ自体は保持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出典：基本設計書 ver1.4（P2C：Creepy Code）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38912"/>
            <a:ext cx="566928" cy="566928"/>
          </a:xfrm>
          <a:prstGeom prst="ellipse">
            <a:avLst/>
          </a:prstGeom>
          <a:solidFill>
            <a:srgbClr val="4A9DB8"/>
          </a:solidFill>
          <a:ln/>
        </p:spPr>
        <p:txBody>
          <a:bodyPr/>
          <a:p/>
        </p:txBody>
      </p:sp>
      <p:pic>
        <p:nvPicPr>
          <p:cNvPr id="3" name="Image 0" descr="/home/claude/creepy_pptx/icons/f10_st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901" y="512613"/>
            <a:ext cx="419527" cy="41952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07008" y="38404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2933"/>
                </a:solidFill>
                <a:latin typeface="BIZ UDPMincho" pitchFamily="34" charset="0"/>
                <a:ea typeface="BIZ UDPMincho" pitchFamily="34" charset="-122"/>
                <a:cs typeface="BIZ UDPMincho" pitchFamily="34" charset="-120"/>
              </a:rPr>
              <a:t>合意のタイミングで、5段階の満足度を確認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1207008" y="1078992"/>
            <a:ext cx="1687068" cy="329184"/>
          </a:xfrm>
          <a:prstGeom prst="roundRect">
            <a:avLst>
              <a:gd name="adj" fmla="val 50000"/>
            </a:avLst>
          </a:prstGeom>
          <a:solidFill>
            <a:srgbClr val="E8EEF2"/>
          </a:solidFill>
          <a:ln/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1207008" y="1078992"/>
            <a:ext cx="16870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5E8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対象：一般会員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9692640" y="502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65E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機能 10 / 10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1691640"/>
            <a:ext cx="1124712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3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868680" y="2011680"/>
            <a:ext cx="104241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ct val="125000"/>
              </a:lnSpc>
              <a:spcAft>
                <a:spcPts val="1200"/>
              </a:spcAft>
              <a:buSzPct val="100000"/>
              <a:buChar char="▪"/>
            </a:pPr>
            <a:r>
              <a:rPr lang="en-US" sz="19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プランのステータスが「合意済み」になった時点で表示</a:t>
            </a:r>
            <a:endParaRPr lang="en-US" sz="1900" dirty="0"/>
          </a:p>
          <a:p>
            <a:pPr algn="l" marL="279400" indent="-279400">
              <a:lnSpc>
                <a:spcPct val="125000"/>
              </a:lnSpc>
              <a:spcAft>
                <a:spcPts val="1200"/>
              </a:spcAft>
              <a:buSzPct val="100000"/>
              <a:buChar char="▪"/>
            </a:pPr>
            <a:r>
              <a:rPr lang="en-US" sz="19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担当プランナーの対応への満足度を5段階で回答</a:t>
            </a:r>
            <a:endParaRPr lang="en-US" sz="1900" dirty="0"/>
          </a:p>
          <a:p>
            <a:pPr algn="l" marL="279400" indent="-279400">
              <a:lnSpc>
                <a:spcPct val="125000"/>
              </a:lnSpc>
              <a:spcAft>
                <a:spcPts val="1200"/>
              </a:spcAft>
              <a:buSzPct val="100000"/>
              <a:buChar char="▪"/>
            </a:pPr>
            <a:r>
              <a:rPr lang="en-US" sz="19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回答は必須にせず、スキップも可能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出典：基本設計書 ver1.4（P2C：Creepy Code）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65E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3840480" cy="3840480"/>
          </a:xfrm>
          <a:prstGeom prst="ellipse">
            <a:avLst/>
          </a:prstGeom>
          <a:solidFill>
            <a:srgbClr val="4A9DB8">
              <a:alpha val="22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280160" y="4937760"/>
            <a:ext cx="3108960" cy="3108960"/>
          </a:xfrm>
          <a:prstGeom prst="ellipse">
            <a:avLst/>
          </a:prstGeom>
          <a:solidFill>
            <a:srgbClr val="4A9DB8">
              <a:alpha val="18000"/>
            </a:srgbClr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914400" y="82296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BIZ UDPMincho" pitchFamily="34" charset="0"/>
                <a:ea typeface="BIZ UDPMincho" pitchFamily="34" charset="-122"/>
                <a:cs typeface="BIZ UDPMincho" pitchFamily="34" charset="-120"/>
              </a:rPr>
              <a:t>AIとプランナーの二人三脚で、体験を底上げする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1965960"/>
            <a:ext cx="420624" cy="420624"/>
          </a:xfrm>
          <a:prstGeom prst="ellipse">
            <a:avLst/>
          </a:prstGeom>
          <a:solidFill>
            <a:srgbClr val="4A9DB8"/>
          </a:solidFill>
          <a:ln/>
        </p:spPr>
        <p:txBody>
          <a:bodyPr/>
          <a:p/>
        </p:txBody>
      </p:sp>
      <p:pic>
        <p:nvPicPr>
          <p:cNvPr id="6" name="Image 0" descr="/home/claude/creepy_pptx/icons/i_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2048256"/>
            <a:ext cx="256032" cy="256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93852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24時間対応で、相談のハードルを下げる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914400" y="2679192"/>
            <a:ext cx="420624" cy="420624"/>
          </a:xfrm>
          <a:prstGeom prst="ellipse">
            <a:avLst/>
          </a:prstGeom>
          <a:solidFill>
            <a:srgbClr val="4A9DB8"/>
          </a:solidFill>
          <a:ln/>
        </p:spPr>
        <p:txBody>
          <a:bodyPr/>
          <a:p/>
        </p:txBody>
      </p:sp>
      <p:pic>
        <p:nvPicPr>
          <p:cNvPr id="9" name="Image 1" descr="/home/claude/creepy_pptx/icons/i_y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761488"/>
            <a:ext cx="256032" cy="25603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08760" y="265176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料金の見える化で、不透明感を解消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914400" y="3392424"/>
            <a:ext cx="420624" cy="420624"/>
          </a:xfrm>
          <a:prstGeom prst="ellipse">
            <a:avLst/>
          </a:prstGeom>
          <a:solidFill>
            <a:srgbClr val="4A9DB8"/>
          </a:solidFill>
          <a:ln/>
        </p:spPr>
        <p:txBody>
          <a:bodyPr/>
          <a:p/>
        </p:txBody>
      </p:sp>
      <p:pic>
        <p:nvPicPr>
          <p:cNvPr id="12" name="Image 2" descr="/home/claude/creepy_pptx/icons/f5_magi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3474720"/>
            <a:ext cx="256032" cy="25603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508760" y="336499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AI雛形が、提案品質のベースラインを底上げ</a:t>
            </a:r>
            <a:endParaRPr lang="en-US" sz="1800" dirty="0"/>
          </a:p>
        </p:txBody>
      </p:sp>
      <p:sp>
        <p:nvSpPr>
          <p:cNvPr id="14" name="Shape 9"/>
          <p:cNvSpPr/>
          <p:nvPr/>
        </p:nvSpPr>
        <p:spPr>
          <a:xfrm>
            <a:off x="914400" y="4105656"/>
            <a:ext cx="420624" cy="420624"/>
          </a:xfrm>
          <a:prstGeom prst="ellipse">
            <a:avLst/>
          </a:prstGeom>
          <a:solidFill>
            <a:srgbClr val="4A9DB8"/>
          </a:solidFill>
          <a:ln/>
        </p:spPr>
        <p:txBody>
          <a:bodyPr/>
          <a:p/>
        </p:txBody>
      </p:sp>
      <p:pic>
        <p:nvPicPr>
          <p:cNvPr id="15" name="Image 3" descr="/home/claude/creepy_pptx/icons/f2_clipbo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187952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508760" y="4078224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段階的ヒアリングで、「何から決めるか」を解消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932688" y="5257800"/>
            <a:ext cx="1828800" cy="0"/>
          </a:xfrm>
          <a:prstGeom prst="line">
            <a:avLst/>
          </a:prstGeom>
          <a:noFill/>
          <a:ln w="25400">
            <a:solidFill>
              <a:srgbClr val="4A9DB8"/>
            </a:solidFill>
            <a:prstDash val="solid"/>
          </a:ln>
        </p:spPr>
        <p:txBody>
          <a:bodyPr/>
          <a:p/>
        </p:txBody>
      </p:sp>
      <p:sp>
        <p:nvSpPr>
          <p:cNvPr id="18" name="Text 12"/>
          <p:cNvSpPr txBox="1"/>
          <p:nvPr/>
        </p:nvSpPr>
        <p:spPr>
          <a:xfrm>
            <a:off x="914400" y="5440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IZ UDPMincho" pitchFamily="34" charset="0"/>
                <a:ea typeface="BIZ UDPMincho" pitchFamily="34" charset="-122"/>
                <a:cs typeface="BIZ UDPMincho" pitchFamily="34" charset="-120"/>
              </a:rPr>
              <a:t>ご清聴ありがとうございました</a:t>
            </a:r>
            <a:endParaRPr lang="en-US" sz="2000" dirty="0"/>
          </a:p>
        </p:txBody>
      </p:sp>
      <p:sp>
        <p:nvSpPr>
          <p:cNvPr id="19" name="Text 13"/>
          <p:cNvSpPr txBox="1"/>
          <p:nvPr/>
        </p:nvSpPr>
        <p:spPr>
          <a:xfrm>
            <a:off x="914400" y="5943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EF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P2C：Creepy Code ／ 基本設計書 ver1.4 に基づく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2026-09-03T02:39:00Z</dcterms:created>
  <dcterms:modified xsi:type="dcterms:W3CDTF">2026-09-03T02:39:00Z</dcterms:modified>
</cp:coreProperties>
</file>
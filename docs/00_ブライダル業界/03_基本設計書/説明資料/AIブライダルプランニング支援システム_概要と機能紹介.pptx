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1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1.png"/><Relationship Id="rId5" Type="http://schemas.openxmlformats.org/officeDocument/2006/relationships/image" Target="../media/image-6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5E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4A9DB8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108960" cy="3108960"/>
          </a:xfrm>
          <a:prstGeom prst="ellipse">
            <a:avLst/>
          </a:prstGeom>
          <a:solidFill>
            <a:srgbClr val="4A9DB8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234440"/>
            <a:ext cx="640080" cy="64008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5" name="Image 0" descr="/home/claude/creepy_pptx/icons/m_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610" y="1317650"/>
            <a:ext cx="473659" cy="47365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1488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AIブライダルプランニング支援システム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4612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E8EEF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アプリ概要・機能紹介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932688" y="3977640"/>
            <a:ext cx="1828800" cy="0"/>
          </a:xfrm>
          <a:prstGeom prst="line">
            <a:avLst/>
          </a:prstGeom>
          <a:noFill/>
          <a:ln w="25400">
            <a:solidFill>
              <a:srgbClr val="4A9DB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4160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P2C：Creepy Code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526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8EEF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基本設計書 ver1.4（2026年7月23日改訂）をもとに作成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m_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本日お伝えすること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783080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78308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A9D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192024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サービス概要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35000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ブライダル業界の課題とAIによる解決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55080" y="1783080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583680" y="178308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A9D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192024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4つの利用者と役割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235000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非会員・一般会員・プランナー・管理者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154680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85800" y="315468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A9D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1691640" y="329184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利用の流れ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72160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ヒアリングから合意までの5ステップ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355080" y="3154680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583680" y="315468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A9D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0" y="329184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主要機能10選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7589520" y="372160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機能ごとに仕組みと狙いを紹介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i_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ブライダル業界が抱える4つの課題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92024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49324" y="2240280"/>
            <a:ext cx="621792" cy="621792"/>
          </a:xfrm>
          <a:prstGeom prst="ellipse">
            <a:avLst/>
          </a:prstGeom>
          <a:solidFill>
            <a:srgbClr val="165E83"/>
          </a:solidFill>
          <a:ln/>
        </p:spPr>
      </p:sp>
      <p:pic>
        <p:nvPicPr>
          <p:cNvPr id="7" name="Image 1" descr="/home/claude/creepy_pptx/icons/i_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157" y="2321113"/>
            <a:ext cx="460126" cy="46012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94360" y="31089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24時間対応ができない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21792" y="4251960"/>
            <a:ext cx="2276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顧客との時間が合わず機会損失が発生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319272" y="192024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311396" y="2240280"/>
            <a:ext cx="621792" cy="621792"/>
          </a:xfrm>
          <a:prstGeom prst="ellipse">
            <a:avLst/>
          </a:prstGeom>
          <a:solidFill>
            <a:srgbClr val="165E83"/>
          </a:solidFill>
          <a:ln/>
        </p:spPr>
      </p:sp>
      <p:pic>
        <p:nvPicPr>
          <p:cNvPr id="12" name="Image 2" descr="/home/claude/creepy_pptx/icons/i_y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229" y="2321113"/>
            <a:ext cx="460126" cy="46012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56432" y="31089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料金が不透明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3483864" y="4251960"/>
            <a:ext cx="2276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後から追加費用が発生しやすい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181344" y="192024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173468" y="2240280"/>
            <a:ext cx="621792" cy="621792"/>
          </a:xfrm>
          <a:prstGeom prst="ellipse">
            <a:avLst/>
          </a:prstGeom>
          <a:solidFill>
            <a:srgbClr val="165E83"/>
          </a:solidFill>
          <a:ln/>
        </p:spPr>
      </p:sp>
      <p:pic>
        <p:nvPicPr>
          <p:cNvPr id="17" name="Image 3" descr="/home/claude/creepy_pptx/icons/i_bala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4301" y="2321113"/>
            <a:ext cx="460126" cy="46012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318504" y="31089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提案品質にばらつき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6345936" y="4251960"/>
            <a:ext cx="2276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プランナーごとに提案の質が変わる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9043416" y="192024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10035540" y="2240280"/>
            <a:ext cx="621792" cy="621792"/>
          </a:xfrm>
          <a:prstGeom prst="ellipse">
            <a:avLst/>
          </a:prstGeom>
          <a:solidFill>
            <a:srgbClr val="165E83"/>
          </a:solidFill>
          <a:ln/>
        </p:spPr>
      </p:sp>
      <p:pic>
        <p:nvPicPr>
          <p:cNvPr id="22" name="Image 4" descr="/home/claude/creepy_pptx/icons/i_questi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6373" y="2321113"/>
            <a:ext cx="460126" cy="46012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180576" y="310896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何から決めるか分からない</a:t>
            </a:r>
            <a:endParaRPr lang="en-US" sz="1700" dirty="0"/>
          </a:p>
        </p:txBody>
      </p:sp>
      <p:sp>
        <p:nvSpPr>
          <p:cNvPr id="24" name="Text 17"/>
          <p:cNvSpPr txBox="1"/>
          <p:nvPr/>
        </p:nvSpPr>
        <p:spPr>
          <a:xfrm>
            <a:off x="9208008" y="4251960"/>
            <a:ext cx="2276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初回相談までのハードルが高い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m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AIを仲介役に、4つの課題をまとめて解決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874520"/>
            <a:ext cx="112471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1874520"/>
            <a:ext cx="3246120" cy="932688"/>
          </a:xfrm>
          <a:prstGeom prst="roundRect">
            <a:avLst>
              <a:gd name="adj" fmla="val 7843"/>
            </a:avLst>
          </a:prstGeom>
          <a:solidFill>
            <a:srgbClr val="E8EEF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1874520"/>
            <a:ext cx="2880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24時間対応ができない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749040" y="2157984"/>
            <a:ext cx="365760" cy="36576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9" name="Image 1" descr="/home/claude/creepy_pptx/icons/m_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192" y="2231136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343400" y="1874520"/>
            <a:ext cx="7178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AIが24時間対応、いつでも相談を開始できる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457200" y="2990088"/>
            <a:ext cx="112471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" y="2990088"/>
            <a:ext cx="3246120" cy="932688"/>
          </a:xfrm>
          <a:prstGeom prst="roundRect">
            <a:avLst>
              <a:gd name="adj" fmla="val 7843"/>
            </a:avLst>
          </a:prstGeom>
          <a:solidFill>
            <a:srgbClr val="E8EEF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85800" y="2990088"/>
            <a:ext cx="2880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料金が不透明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749040" y="3273552"/>
            <a:ext cx="365760" cy="36576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15" name="Image 2" descr="/home/claude/creepy_pptx/icons/m_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192" y="3346704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343400" y="2990088"/>
            <a:ext cx="7178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オプション変更のたびに費用をリアルタイム表示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457200" y="4105656"/>
            <a:ext cx="112471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57200" y="4105656"/>
            <a:ext cx="3246120" cy="932688"/>
          </a:xfrm>
          <a:prstGeom prst="roundRect">
            <a:avLst>
              <a:gd name="adj" fmla="val 7843"/>
            </a:avLst>
          </a:prstGeom>
          <a:solidFill>
            <a:srgbClr val="E8EEF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85800" y="4105656"/>
            <a:ext cx="2880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提案品質にばらつき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3749040" y="4389120"/>
            <a:ext cx="365760" cy="36576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21" name="Image 3" descr="/home/claude/creepy_pptx/icons/m_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2" y="4462272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343400" y="4105656"/>
            <a:ext cx="7178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AI生成のプラン雛形で品質のベースラインを底上げ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57200" y="5221224"/>
            <a:ext cx="112471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57200" y="5221224"/>
            <a:ext cx="3246120" cy="932688"/>
          </a:xfrm>
          <a:prstGeom prst="roundRect">
            <a:avLst>
              <a:gd name="adj" fmla="val 7843"/>
            </a:avLst>
          </a:prstGeom>
          <a:solidFill>
            <a:srgbClr val="E8EEF2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685800" y="5221224"/>
            <a:ext cx="2880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何から決めるか分からない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3749040" y="5504688"/>
            <a:ext cx="365760" cy="36576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27" name="Image 4" descr="/home/claude/creepy_pptx/icons/m_arro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2192" y="5577840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43400" y="5221224"/>
            <a:ext cx="7178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段階的ヒアリングとAIの深掘り質問で希望を整理</a:t>
            </a:r>
            <a:endParaRPr lang="en-US" sz="18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r_me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利用者は4種類、権限も画面も異なる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783080"/>
            <a:ext cx="2606040" cy="39776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76756" y="2057400"/>
            <a:ext cx="566928" cy="566928"/>
          </a:xfrm>
          <a:prstGeom prst="ellipse">
            <a:avLst/>
          </a:prstGeom>
          <a:solidFill>
            <a:srgbClr val="165E83"/>
          </a:solidFill>
          <a:ln/>
        </p:spPr>
      </p:sp>
      <p:pic>
        <p:nvPicPr>
          <p:cNvPr id="7" name="Image 1" descr="/home/claude/creepy_pptx/icons/r_gu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457" y="2131101"/>
            <a:ext cx="419527" cy="41952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788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非会員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94360" y="31546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まだ登録していない顧客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77240" y="3749040"/>
            <a:ext cx="1965960" cy="0"/>
          </a:xfrm>
          <a:prstGeom prst="line">
            <a:avLst/>
          </a:prstGeom>
          <a:noFill/>
          <a:ln w="12700">
            <a:solidFill>
              <a:srgbClr val="E8EE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388620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▪"/>
            </a:pPr>
            <a:r>
              <a:rPr lang="en-US" sz="12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会員登録のみ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3319272" y="1783080"/>
            <a:ext cx="2606040" cy="39776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38828" y="2057400"/>
            <a:ext cx="566928" cy="566928"/>
          </a:xfrm>
          <a:prstGeom prst="ellipse">
            <a:avLst/>
          </a:prstGeom>
          <a:solidFill>
            <a:srgbClr val="165E83"/>
          </a:solidFill>
          <a:ln/>
        </p:spPr>
      </p:sp>
      <p:pic>
        <p:nvPicPr>
          <p:cNvPr id="14" name="Image 2" descr="/home/claude/creepy_pptx/icons/r_memb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529" y="2131101"/>
            <a:ext cx="419527" cy="41952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10712" y="2788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一般会員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3456432" y="31546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会員登録が完了した顧客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639312" y="3749040"/>
            <a:ext cx="1965960" cy="0"/>
          </a:xfrm>
          <a:prstGeom prst="line">
            <a:avLst/>
          </a:prstGeom>
          <a:noFill/>
          <a:ln w="12700">
            <a:solidFill>
              <a:srgbClr val="E8EEF2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502152" y="388620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▪"/>
            </a:pPr>
            <a:r>
              <a:rPr lang="en-US" sz="12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事前ヒアリング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▪"/>
            </a:pPr>
            <a:r>
              <a:rPr lang="en-US" sz="12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AIプラン閲覧・料金試算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▪"/>
            </a:pPr>
            <a:r>
              <a:rPr lang="en-US" sz="12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プランナーとチャット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81344" y="1783080"/>
            <a:ext cx="2606040" cy="39776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200900" y="2057400"/>
            <a:ext cx="566928" cy="566928"/>
          </a:xfrm>
          <a:prstGeom prst="ellipse">
            <a:avLst/>
          </a:prstGeom>
          <a:solidFill>
            <a:srgbClr val="165E83"/>
          </a:solidFill>
          <a:ln/>
        </p:spPr>
      </p:sp>
      <p:pic>
        <p:nvPicPr>
          <p:cNvPr id="21" name="Image 3" descr="/home/claude/creepy_pptx/icons/r_plann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4601" y="2131101"/>
            <a:ext cx="419527" cy="41952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272784" y="2788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プランナー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318504" y="31546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プランを提案するスタッフ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501384" y="3749040"/>
            <a:ext cx="1965960" cy="0"/>
          </a:xfrm>
          <a:prstGeom prst="line">
            <a:avLst/>
          </a:prstGeom>
          <a:noFill/>
          <a:ln w="12700">
            <a:solidFill>
              <a:srgbClr val="E8EEF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364224" y="388620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▪"/>
            </a:pPr>
            <a:r>
              <a:rPr lang="en-US" sz="12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AI雛形の確認・編集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▪"/>
            </a:pPr>
            <a:r>
              <a:rPr lang="en-US" sz="12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詳細プランの提出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▪"/>
            </a:pPr>
            <a:r>
              <a:rPr lang="en-US" sz="12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品質ダッシュボード閲覧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9043416" y="1783080"/>
            <a:ext cx="2606040" cy="39776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10062972" y="2057400"/>
            <a:ext cx="566928" cy="566928"/>
          </a:xfrm>
          <a:prstGeom prst="ellipse">
            <a:avLst/>
          </a:prstGeom>
          <a:solidFill>
            <a:srgbClr val="165E83"/>
          </a:solidFill>
          <a:ln/>
        </p:spPr>
      </p:sp>
      <p:pic>
        <p:nvPicPr>
          <p:cNvPr id="28" name="Image 4" descr="/home/claude/creepy_pptx/icons/r_adm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6673" y="2131101"/>
            <a:ext cx="419527" cy="41952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134856" y="2788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管理者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9180576" y="31546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システムを管理する担当者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9363456" y="3749040"/>
            <a:ext cx="1965960" cy="0"/>
          </a:xfrm>
          <a:prstGeom prst="line">
            <a:avLst/>
          </a:prstGeom>
          <a:noFill/>
          <a:ln w="12700">
            <a:solidFill>
              <a:srgbClr val="E8EEF2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226296" y="388620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▪"/>
            </a:pPr>
            <a:r>
              <a:rPr lang="en-US" sz="12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会員情報の閲覧・変更・削除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▪"/>
            </a:pPr>
            <a:r>
              <a:rPr lang="en-US" sz="12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品質ダッシュボードの管理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m_ar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事前ヒアリングから合意まで、5ステップで進む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965960"/>
            <a:ext cx="2088490" cy="3794760"/>
          </a:xfrm>
          <a:prstGeom prst="roundRect">
            <a:avLst>
              <a:gd name="adj" fmla="val 3503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272845" y="2221992"/>
            <a:ext cx="457200" cy="457200"/>
          </a:xfrm>
          <a:prstGeom prst="ellipse">
            <a:avLst/>
          </a:prstGeom>
          <a:solidFill>
            <a:srgbClr val="165E8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72845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975665" y="2834640"/>
            <a:ext cx="1051560" cy="292608"/>
          </a:xfrm>
          <a:prstGeom prst="roundRect">
            <a:avLst>
              <a:gd name="adj" fmla="val 56250"/>
            </a:avLst>
          </a:prstGeom>
          <a:solidFill>
            <a:srgbClr val="E8EE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75665" y="28346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顧客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291840"/>
            <a:ext cx="1869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事前ヒアリング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114800"/>
            <a:ext cx="18141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4ステップで大枠の希望を整理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518258" y="3735324"/>
            <a:ext cx="256032" cy="256032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13" name="Image 1" descr="/home/claude/creepy_pptx/icons/m_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122" y="3790188"/>
            <a:ext cx="146304" cy="146304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2746858" y="1965960"/>
            <a:ext cx="2088490" cy="3794760"/>
          </a:xfrm>
          <a:prstGeom prst="roundRect">
            <a:avLst>
              <a:gd name="adj" fmla="val 3503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62502" y="2221992"/>
            <a:ext cx="457200" cy="457200"/>
          </a:xfrm>
          <a:prstGeom prst="ellipse">
            <a:avLst/>
          </a:prstGeom>
          <a:solidFill>
            <a:srgbClr val="165E83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562502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3265322" y="2834640"/>
            <a:ext cx="1051560" cy="292608"/>
          </a:xfrm>
          <a:prstGeom prst="roundRect">
            <a:avLst>
              <a:gd name="adj" fmla="val 56250"/>
            </a:avLst>
          </a:prstGeom>
          <a:solidFill>
            <a:srgbClr val="E8EEF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265322" y="28346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2856586" y="3291840"/>
            <a:ext cx="1869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深掘り質問・雛形生成</a:t>
            </a:r>
            <a:endParaRPr lang="en-US" sz="1450" dirty="0"/>
          </a:p>
        </p:txBody>
      </p:sp>
      <p:sp>
        <p:nvSpPr>
          <p:cNvPr id="20" name="Text 16"/>
          <p:cNvSpPr txBox="1"/>
          <p:nvPr/>
        </p:nvSpPr>
        <p:spPr>
          <a:xfrm>
            <a:off x="2884018" y="4114800"/>
            <a:ext cx="18141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価値観を深掘りしプラン雛形を自動生成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807915" y="3735324"/>
            <a:ext cx="256032" cy="256032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22" name="Image 2" descr="/home/claude/creepy_pptx/icons/m_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779" y="3790188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5036515" y="1965960"/>
            <a:ext cx="2088490" cy="3794760"/>
          </a:xfrm>
          <a:prstGeom prst="roundRect">
            <a:avLst>
              <a:gd name="adj" fmla="val 3503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852160" y="2221992"/>
            <a:ext cx="457200" cy="457200"/>
          </a:xfrm>
          <a:prstGeom prst="ellipse">
            <a:avLst/>
          </a:prstGeom>
          <a:solidFill>
            <a:srgbClr val="165E83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585216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26" name="Shape 21"/>
          <p:cNvSpPr/>
          <p:nvPr/>
        </p:nvSpPr>
        <p:spPr>
          <a:xfrm>
            <a:off x="5554980" y="2834640"/>
            <a:ext cx="1051560" cy="292608"/>
          </a:xfrm>
          <a:prstGeom prst="roundRect">
            <a:avLst>
              <a:gd name="adj" fmla="val 56250"/>
            </a:avLst>
          </a:prstGeom>
          <a:solidFill>
            <a:srgbClr val="E8EEF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5554980" y="28346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管理者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5146243" y="3291840"/>
            <a:ext cx="1869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プランナー割当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5173675" y="4114800"/>
            <a:ext cx="18141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担当プランナーを手動でマッチング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7097573" y="3735324"/>
            <a:ext cx="256032" cy="256032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1" name="Image 3" descr="/home/claude/creepy_pptx/icons/m_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2437" y="3790188"/>
            <a:ext cx="146304" cy="146304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7326173" y="1965960"/>
            <a:ext cx="2088490" cy="3794760"/>
          </a:xfrm>
          <a:prstGeom prst="roundRect">
            <a:avLst>
              <a:gd name="adj" fmla="val 3503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8141818" y="2221992"/>
            <a:ext cx="457200" cy="457200"/>
          </a:xfrm>
          <a:prstGeom prst="ellipse">
            <a:avLst/>
          </a:prstGeom>
          <a:solidFill>
            <a:srgbClr val="165E83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8141818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35" name="Shape 29"/>
          <p:cNvSpPr/>
          <p:nvPr/>
        </p:nvSpPr>
        <p:spPr>
          <a:xfrm>
            <a:off x="7792060" y="2834640"/>
            <a:ext cx="1156716" cy="292608"/>
          </a:xfrm>
          <a:prstGeom prst="roundRect">
            <a:avLst>
              <a:gd name="adj" fmla="val 56250"/>
            </a:avLst>
          </a:prstGeom>
          <a:solidFill>
            <a:srgbClr val="E8EEF2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7792060" y="2834640"/>
            <a:ext cx="11567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プランナー</a:t>
            </a:r>
            <a:endParaRPr lang="en-US" sz="1300" dirty="0"/>
          </a:p>
        </p:txBody>
      </p:sp>
      <p:sp>
        <p:nvSpPr>
          <p:cNvPr id="37" name="Text 31"/>
          <p:cNvSpPr txBox="1"/>
          <p:nvPr/>
        </p:nvSpPr>
        <p:spPr>
          <a:xfrm>
            <a:off x="7435901" y="3291840"/>
            <a:ext cx="1869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詳細プラン提出</a:t>
            </a:r>
            <a:endParaRPr lang="en-US" sz="1450" dirty="0"/>
          </a:p>
        </p:txBody>
      </p:sp>
      <p:sp>
        <p:nvSpPr>
          <p:cNvPr id="38" name="Text 32"/>
          <p:cNvSpPr txBox="1"/>
          <p:nvPr/>
        </p:nvSpPr>
        <p:spPr>
          <a:xfrm>
            <a:off x="7463333" y="4114800"/>
            <a:ext cx="18141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AI雛形をもとに詳細プランを作成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9387230" y="3735324"/>
            <a:ext cx="256032" cy="256032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40" name="Image 4" descr="/home/claude/creepy_pptx/icons/m_arro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2094" y="3790188"/>
            <a:ext cx="146304" cy="146304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9615830" y="1965960"/>
            <a:ext cx="2088490" cy="3794760"/>
          </a:xfrm>
          <a:prstGeom prst="roundRect">
            <a:avLst>
              <a:gd name="adj" fmla="val 3503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42" name="Shape 35"/>
          <p:cNvSpPr/>
          <p:nvPr/>
        </p:nvSpPr>
        <p:spPr>
          <a:xfrm>
            <a:off x="10431475" y="2221992"/>
            <a:ext cx="457200" cy="457200"/>
          </a:xfrm>
          <a:prstGeom prst="ellipse">
            <a:avLst/>
          </a:prstGeom>
          <a:solidFill>
            <a:srgbClr val="165E83"/>
          </a:solidFill>
          <a:ln/>
        </p:spPr>
      </p:sp>
      <p:sp>
        <p:nvSpPr>
          <p:cNvPr id="43" name="Text 36"/>
          <p:cNvSpPr txBox="1"/>
          <p:nvPr/>
        </p:nvSpPr>
        <p:spPr>
          <a:xfrm>
            <a:off x="10431475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44" name="Shape 37"/>
          <p:cNvSpPr/>
          <p:nvPr/>
        </p:nvSpPr>
        <p:spPr>
          <a:xfrm>
            <a:off x="9827971" y="2834640"/>
            <a:ext cx="1664208" cy="292608"/>
          </a:xfrm>
          <a:prstGeom prst="roundRect">
            <a:avLst>
              <a:gd name="adj" fmla="val 56250"/>
            </a:avLst>
          </a:prstGeom>
          <a:solidFill>
            <a:srgbClr val="E8EEF2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9827971" y="2834640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顧客⇄プランナー</a:t>
            </a:r>
            <a:endParaRPr lang="en-US" sz="1300" dirty="0"/>
          </a:p>
        </p:txBody>
      </p:sp>
      <p:sp>
        <p:nvSpPr>
          <p:cNvPr id="46" name="Text 39"/>
          <p:cNvSpPr txBox="1"/>
          <p:nvPr/>
        </p:nvSpPr>
        <p:spPr>
          <a:xfrm>
            <a:off x="9725558" y="3291840"/>
            <a:ext cx="1869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チャットで調整・合意</a:t>
            </a:r>
            <a:endParaRPr lang="en-US" sz="1450" dirty="0"/>
          </a:p>
        </p:txBody>
      </p:sp>
      <p:sp>
        <p:nvSpPr>
          <p:cNvPr id="47" name="Text 40"/>
          <p:cNvSpPr txBox="1"/>
          <p:nvPr/>
        </p:nvSpPr>
        <p:spPr>
          <a:xfrm>
            <a:off x="9752990" y="4114800"/>
            <a:ext cx="18141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アプリ内チャットで最終合意</a:t>
            </a:r>
            <a:endParaRPr lang="en-US" sz="12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m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主要機能は10、顧客・プランナー・管理者を支える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78308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21792" y="1947672"/>
            <a:ext cx="457200" cy="45720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7" name="Image 1" descr="/home/claude/creepy_pptx/icons/f1_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" y="2007108"/>
            <a:ext cx="338328" cy="33832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178308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6B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18562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会員登録・ログイン・パスワードリセット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645920" y="22219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対象：全員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217920" y="178308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382512" y="1947672"/>
            <a:ext cx="457200" cy="45720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13" name="Image 2" descr="/home/claude/creepy_pptx/icons/f2_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948" y="2007108"/>
            <a:ext cx="338328" cy="33832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903720" y="178308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6B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8562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事前ヒアリング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7406640" y="22219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対象：一般会員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57200" y="269748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1792" y="2862072"/>
            <a:ext cx="457200" cy="45720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19" name="Image 3" descr="/home/claude/creepy_pptx/icons/f3_com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" y="2921508"/>
            <a:ext cx="338328" cy="33832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143000" y="269748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6B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645920" y="27706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AI深掘り質問【新設】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645920" y="31363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対象：一般会員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6217920" y="269748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382512" y="2862072"/>
            <a:ext cx="457200" cy="45720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25" name="Image 4" descr="/home/claude/creepy_pptx/icons/f4_cal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1948" y="2921508"/>
            <a:ext cx="338328" cy="3383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903720" y="269748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6B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7406640" y="27706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リアルタイム料金シミュレーション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7406640" y="31363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対象：一般会員・プランナー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57200" y="361188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1792" y="3776472"/>
            <a:ext cx="457200" cy="45720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1" name="Image 5" descr="/home/claude/creepy_pptx/icons/f5_ma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" y="3835908"/>
            <a:ext cx="338328" cy="33832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143000" y="361188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6B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1645920" y="36850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AIプラン雛形生成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1645920" y="40507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対象：AI（自動）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217920" y="361188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382512" y="3776472"/>
            <a:ext cx="457200" cy="45720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7" name="Image 6" descr="/home/claude/creepy_pptx/icons/f6_ti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948" y="3835908"/>
            <a:ext cx="338328" cy="338328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903720" y="361188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6B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500" dirty="0"/>
          </a:p>
        </p:txBody>
      </p:sp>
      <p:sp>
        <p:nvSpPr>
          <p:cNvPr id="39" name="Text 30"/>
          <p:cNvSpPr txBox="1"/>
          <p:nvPr/>
        </p:nvSpPr>
        <p:spPr>
          <a:xfrm>
            <a:off x="7406640" y="36850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プランナー向けAI支援</a:t>
            </a:r>
            <a:endParaRPr lang="en-US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7406640" y="40507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対象：プランナー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457200" y="452628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42" name="Shape 33"/>
          <p:cNvSpPr/>
          <p:nvPr/>
        </p:nvSpPr>
        <p:spPr>
          <a:xfrm>
            <a:off x="621792" y="4690872"/>
            <a:ext cx="457200" cy="45720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43" name="Image 7" descr="/home/claude/creepy_pptx/icons/f7_comment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228" y="4750308"/>
            <a:ext cx="338328" cy="338328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143000" y="452628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6B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500" dirty="0"/>
          </a:p>
        </p:txBody>
      </p:sp>
      <p:sp>
        <p:nvSpPr>
          <p:cNvPr id="45" name="Text 35"/>
          <p:cNvSpPr txBox="1"/>
          <p:nvPr/>
        </p:nvSpPr>
        <p:spPr>
          <a:xfrm>
            <a:off x="1645920" y="4599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チャット機能</a:t>
            </a:r>
            <a:endParaRPr lang="en-US" sz="1400" dirty="0"/>
          </a:p>
        </p:txBody>
      </p:sp>
      <p:sp>
        <p:nvSpPr>
          <p:cNvPr id="46" name="Text 36"/>
          <p:cNvSpPr txBox="1"/>
          <p:nvPr/>
        </p:nvSpPr>
        <p:spPr>
          <a:xfrm>
            <a:off x="1645920" y="49651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対象：一般会員・プランナー</a:t>
            </a:r>
            <a:endParaRPr lang="en-US" sz="1100" dirty="0"/>
          </a:p>
        </p:txBody>
      </p:sp>
      <p:sp>
        <p:nvSpPr>
          <p:cNvPr id="47" name="Shape 37"/>
          <p:cNvSpPr/>
          <p:nvPr/>
        </p:nvSpPr>
        <p:spPr>
          <a:xfrm>
            <a:off x="6217920" y="452628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48" name="Shape 38"/>
          <p:cNvSpPr/>
          <p:nvPr/>
        </p:nvSpPr>
        <p:spPr>
          <a:xfrm>
            <a:off x="6382512" y="4690872"/>
            <a:ext cx="457200" cy="45720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49" name="Image 8" descr="/home/claude/creepy_pptx/icons/f8_char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1948" y="4750308"/>
            <a:ext cx="338328" cy="338328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6903720" y="452628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6B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500" dirty="0"/>
          </a:p>
        </p:txBody>
      </p:sp>
      <p:sp>
        <p:nvSpPr>
          <p:cNvPr id="51" name="Text 40"/>
          <p:cNvSpPr txBox="1"/>
          <p:nvPr/>
        </p:nvSpPr>
        <p:spPr>
          <a:xfrm>
            <a:off x="7406640" y="4599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プランナー品質ダッシュボード</a:t>
            </a:r>
            <a:endParaRPr lang="en-US" sz="1400" dirty="0"/>
          </a:p>
        </p:txBody>
      </p:sp>
      <p:sp>
        <p:nvSpPr>
          <p:cNvPr id="52" name="Text 41"/>
          <p:cNvSpPr txBox="1"/>
          <p:nvPr/>
        </p:nvSpPr>
        <p:spPr>
          <a:xfrm>
            <a:off x="7406640" y="49651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対象：管理者</a:t>
            </a:r>
            <a:endParaRPr lang="en-US" sz="1100" dirty="0"/>
          </a:p>
        </p:txBody>
      </p:sp>
      <p:sp>
        <p:nvSpPr>
          <p:cNvPr id="53" name="Shape 42"/>
          <p:cNvSpPr/>
          <p:nvPr/>
        </p:nvSpPr>
        <p:spPr>
          <a:xfrm>
            <a:off x="457200" y="544068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54" name="Shape 43"/>
          <p:cNvSpPr/>
          <p:nvPr/>
        </p:nvSpPr>
        <p:spPr>
          <a:xfrm>
            <a:off x="621792" y="5605272"/>
            <a:ext cx="457200" cy="45720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55" name="Image 9" descr="/home/claude/creepy_pptx/icons/f9_usersco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228" y="5664708"/>
            <a:ext cx="338328" cy="338328"/>
          </a:xfrm>
          <a:prstGeom prst="rect">
            <a:avLst/>
          </a:prstGeom>
        </p:spPr>
      </p:pic>
      <p:sp>
        <p:nvSpPr>
          <p:cNvPr id="56" name="Text 44"/>
          <p:cNvSpPr txBox="1"/>
          <p:nvPr/>
        </p:nvSpPr>
        <p:spPr>
          <a:xfrm>
            <a:off x="1143000" y="544068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6B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500" dirty="0"/>
          </a:p>
        </p:txBody>
      </p:sp>
      <p:sp>
        <p:nvSpPr>
          <p:cNvPr id="57" name="Text 45"/>
          <p:cNvSpPr txBox="1"/>
          <p:nvPr/>
        </p:nvSpPr>
        <p:spPr>
          <a:xfrm>
            <a:off x="1645920" y="55138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会員情報管理</a:t>
            </a:r>
            <a:endParaRPr lang="en-US" sz="1400" dirty="0"/>
          </a:p>
        </p:txBody>
      </p:sp>
      <p:sp>
        <p:nvSpPr>
          <p:cNvPr id="58" name="Text 46"/>
          <p:cNvSpPr txBox="1"/>
          <p:nvPr/>
        </p:nvSpPr>
        <p:spPr>
          <a:xfrm>
            <a:off x="1645920" y="58795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対象：管理者</a:t>
            </a:r>
            <a:endParaRPr lang="en-US" sz="1100" dirty="0"/>
          </a:p>
        </p:txBody>
      </p:sp>
      <p:sp>
        <p:nvSpPr>
          <p:cNvPr id="59" name="Shape 47"/>
          <p:cNvSpPr/>
          <p:nvPr/>
        </p:nvSpPr>
        <p:spPr>
          <a:xfrm>
            <a:off x="6217920" y="544068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60" name="Shape 48"/>
          <p:cNvSpPr/>
          <p:nvPr/>
        </p:nvSpPr>
        <p:spPr>
          <a:xfrm>
            <a:off x="6382512" y="5605272"/>
            <a:ext cx="457200" cy="457200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61" name="Image 10" descr="/home/claude/creepy_pptx/icons/f10_sta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1948" y="5664708"/>
            <a:ext cx="338328" cy="338328"/>
          </a:xfrm>
          <a:prstGeom prst="rect">
            <a:avLst/>
          </a:prstGeom>
        </p:spPr>
      </p:pic>
      <p:sp>
        <p:nvSpPr>
          <p:cNvPr id="62" name="Text 49"/>
          <p:cNvSpPr txBox="1"/>
          <p:nvPr/>
        </p:nvSpPr>
        <p:spPr>
          <a:xfrm>
            <a:off x="6903720" y="544068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6B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500" dirty="0"/>
          </a:p>
        </p:txBody>
      </p:sp>
      <p:sp>
        <p:nvSpPr>
          <p:cNvPr id="63" name="Text 50"/>
          <p:cNvSpPr txBox="1"/>
          <p:nvPr/>
        </p:nvSpPr>
        <p:spPr>
          <a:xfrm>
            <a:off x="7406640" y="55138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満足度評価【新設】</a:t>
            </a:r>
            <a:endParaRPr lang="en-US" sz="1400" dirty="0"/>
          </a:p>
        </p:txBody>
      </p:sp>
      <p:sp>
        <p:nvSpPr>
          <p:cNvPr id="64" name="Text 51"/>
          <p:cNvSpPr txBox="1"/>
          <p:nvPr/>
        </p:nvSpPr>
        <p:spPr>
          <a:xfrm>
            <a:off x="7406640" y="58795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対象：一般会員</a:t>
            </a:r>
            <a:endParaRPr lang="en-US" sz="1100" dirty="0"/>
          </a:p>
        </p:txBody>
      </p:sp>
      <p:sp>
        <p:nvSpPr>
          <p:cNvPr id="65" name="Text 5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f1_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認証まわりは安全性と利便性を両立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207008" y="107899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E8EE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207008" y="10789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対象：全員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502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機能 01 / 10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1124712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パスワードはBCryptでハッシュ化して保存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ログイン後、種別に応じて画面を自動振り分け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30分間操作がなければ自動的にログアウト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再設定は使い捨てURLを送信（有効期限30分）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f2_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4ステップで、プランの大枠を無理なく整理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207008" y="1078992"/>
            <a:ext cx="1687068" cy="329184"/>
          </a:xfrm>
          <a:prstGeom prst="roundRect">
            <a:avLst>
              <a:gd name="adj" fmla="val 50000"/>
            </a:avLst>
          </a:prstGeom>
          <a:solidFill>
            <a:srgbClr val="E8EE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207008" y="1078992"/>
            <a:ext cx="168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対象：一般会員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502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機能 02 / 10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1124712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Step1 アーキタイプ選択：5種類から1つ選択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Step2 ビジュアル：式場・装飾をスワイプ選択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Step3 基本情報入力：日程と予算（未定も可）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Step4 タグ選択：迷う点・こだわりを任意選択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f3_com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大枠の回答から、AIが価値観を掘り下げる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207008" y="1078992"/>
            <a:ext cx="1687068" cy="329184"/>
          </a:xfrm>
          <a:prstGeom prst="roundRect">
            <a:avLst>
              <a:gd name="adj" fmla="val 50000"/>
            </a:avLst>
          </a:prstGeom>
          <a:solidFill>
            <a:srgbClr val="E8EE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207008" y="1078992"/>
            <a:ext cx="168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対象：一般会員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502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機能 03 / 10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1124712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事前ヒアリングの回答をもとに追加質問を3〜5問生成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譲れないポイントや削ってよい部分を質問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回答内容を「価値観の要点」としてAIが整理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プラン雛形とあわせて担当プランナーへ申し送り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f4_cal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費用は常に見える化、超過時は節約提案も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207008" y="1078992"/>
            <a:ext cx="2702052" cy="329184"/>
          </a:xfrm>
          <a:prstGeom prst="roundRect">
            <a:avLst>
              <a:gd name="adj" fmla="val 50000"/>
            </a:avLst>
          </a:prstGeom>
          <a:solidFill>
            <a:srgbClr val="E8EE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207008" y="1078992"/>
            <a:ext cx="27020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対象：一般会員・プランナー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502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機能 04 / 10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1124712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オプション変更で累計金額を即時更新（1秒以内）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予算残額を表示し、超過時はアラートで通知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確定金額と変動可能性がある金額を色分け表示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AIプラン雛形の生成直後から利用可能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f5_mag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Claude APIが24時間、プランの叩き台を作る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207008" y="1078992"/>
            <a:ext cx="2025396" cy="329184"/>
          </a:xfrm>
          <a:prstGeom prst="roundRect">
            <a:avLst>
              <a:gd name="adj" fmla="val 50000"/>
            </a:avLst>
          </a:prstGeom>
          <a:solidFill>
            <a:srgbClr val="E8EE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207008" y="1078992"/>
            <a:ext cx="20253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対象：AI（自動）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502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機能 05 / 10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1124712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事前ヒアリングと深掘り質問の回答から大枠を自動生成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会場案・料理スタイル・演出案などを提示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「大事な点」「削ってよい点」も同時に整理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あくまで叩き台、最終提案はプランナーが責任を持つ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f6_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AIの下ごしらえが、提案品質のばらつきを抑える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207008" y="1078992"/>
            <a:ext cx="1856232" cy="329184"/>
          </a:xfrm>
          <a:prstGeom prst="roundRect">
            <a:avLst>
              <a:gd name="adj" fmla="val 50000"/>
            </a:avLst>
          </a:prstGeom>
          <a:solidFill>
            <a:srgbClr val="E8EE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207008" y="1078992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対象：プランナー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502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機能 06 / 10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1124712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価値観の要点を提示し、意図を推測する手間を削減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決定事項と推奨期限のチェックリストを自動生成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類似条件のカップル事例を提示し、提案の根拠を強化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AI雛形の修正差分を記録し、継続改善に活用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f7_com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顧客とプランナーをリアルタイムでつなぐ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207008" y="1078992"/>
            <a:ext cx="2702052" cy="329184"/>
          </a:xfrm>
          <a:prstGeom prst="roundRect">
            <a:avLst>
              <a:gd name="adj" fmla="val 50000"/>
            </a:avLst>
          </a:prstGeom>
          <a:solidFill>
            <a:srgbClr val="E8EE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207008" y="1078992"/>
            <a:ext cx="27020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対象：一般会員・プランナー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502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機能 07 / 10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1124712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アプリ内でリアルタイムにメッセージをやり取り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画像・PDFの添付・送受信に対応（上限10MB）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添付ファイルはAWS S3に保存し、URLで参照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メッセージはプランIDに紐づき対象が明確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f8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満足度と修正差分を数値で可視化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207008" y="107899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E8EE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207008" y="10789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対象：管理者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502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機能 08 / 10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1124712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プランナーごとの顧客満足度スコアを一覧表示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AI雛形の修正差分数もあわせて確認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品質が底上げされているかを定量的に把握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継続的な改善と、プランナー評価に活用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f9_usersc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会員情報を安全に閲覧・変更・削除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207008" y="107899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E8EE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207008" y="10789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対象：管理者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502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機能 09 / 10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1124712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氏名・メールアドレス・登録日などを一覧で確認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特定の会員情報を検索・変更・削除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削除は論理削除、データ自体は保持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"/>
            <a:ext cx="566928" cy="566928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3" name="Image 0" descr="/home/claude/creepy_pptx/icons/f10_s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901" y="512613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07008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2933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合意のタイミングで、5段階の満足度を確認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207008" y="1078992"/>
            <a:ext cx="1687068" cy="329184"/>
          </a:xfrm>
          <a:prstGeom prst="roundRect">
            <a:avLst>
              <a:gd name="adj" fmla="val 50000"/>
            </a:avLst>
          </a:prstGeom>
          <a:solidFill>
            <a:srgbClr val="E8EE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207008" y="1078992"/>
            <a:ext cx="16870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対象：一般会員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502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5E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機能 10 / 10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1124712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  <a:effectLst>
            <a:outerShdw sx="100000" sy="100000" kx="0" ky="0" algn="bl" rotWithShape="0" blurRad="101600" dist="25400" dir="5400000">
              <a:srgbClr val="1F29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プランのステータスが「合意済み」になった時点で表示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担当プランナーの対応への満足度を5段階で回答</a:t>
            </a:r>
            <a:endParaRPr lang="en-US" sz="1900" dirty="0"/>
          </a:p>
          <a:p>
            <a:pPr algn="l" marL="279400" indent="-279400">
              <a:lnSpc>
                <a:spcPct val="125000"/>
              </a:lnSpc>
              <a:spcAft>
                <a:spcPts val="1200"/>
              </a:spcAft>
              <a:buSzPct val="100000"/>
              <a:buChar char="▪"/>
            </a:pPr>
            <a:r>
              <a:rPr lang="en-US" sz="1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回答は必須にせず、スキップも可能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出典：基本設計書 ver1.4（P2C：Creepy Code）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5E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4A9DB8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108960" cy="3108960"/>
          </a:xfrm>
          <a:prstGeom prst="ellipse">
            <a:avLst/>
          </a:prstGeom>
          <a:solidFill>
            <a:srgbClr val="4A9DB8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82296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AIとプランナーの二人三脚で、体験を底上げする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420624" cy="420624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6" name="Image 0" descr="/home/claude/creepy_pptx/icons/i_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04825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9385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24時間対応で、相談のハードルを下げる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2679192"/>
            <a:ext cx="420624" cy="420624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9" name="Image 1" descr="/home/claude/creepy_pptx/icons/i_y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76148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265176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料金の見える化で、不透明感を解消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914400" y="3392424"/>
            <a:ext cx="420624" cy="420624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12" name="Image 2" descr="/home/claude/creepy_pptx/icons/f5_magi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474720"/>
            <a:ext cx="256032" cy="25603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36499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AI雛形が、提案品質のベースラインを底上げ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914400" y="4105656"/>
            <a:ext cx="420624" cy="420624"/>
          </a:xfrm>
          <a:prstGeom prst="ellipse">
            <a:avLst/>
          </a:prstGeom>
          <a:solidFill>
            <a:srgbClr val="4A9DB8"/>
          </a:solidFill>
          <a:ln/>
        </p:spPr>
      </p:sp>
      <p:pic>
        <p:nvPicPr>
          <p:cNvPr id="15" name="Image 3" descr="/home/claude/creepy_pptx/icons/f2_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187952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508760" y="407822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段階的ヒアリングで、「何から決めるか」を解消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32688" y="5257800"/>
            <a:ext cx="1828800" cy="0"/>
          </a:xfrm>
          <a:prstGeom prst="line">
            <a:avLst/>
          </a:prstGeom>
          <a:noFill/>
          <a:ln w="25400">
            <a:solidFill>
              <a:srgbClr val="4A9DB8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914400" y="5440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BIZ UDPMincho" pitchFamily="34" charset="0"/>
                <a:ea typeface="BIZ UDPMincho" pitchFamily="34" charset="-122"/>
                <a:cs typeface="BIZ UDPMincho" pitchFamily="34" charset="-120"/>
              </a:rPr>
              <a:t>ご清聴ありがとうございました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91440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8EEF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P2C：Creepy Code ／ 基本設計書 ver1.4 に基づく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2026-09-03T02:39:00Z</dcterms:created>
  <dcterms:modified xsi:type="dcterms:W3CDTF">2026-09-03T02:39:00Z</dcterms:modified>
</cp:coreProperties>
</file>
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6aa2d33b-405d-4a48-6f9e-3868c430263e}">
          <p14:sldIdLst>
            <p14:sldId id="256"/>
          </p14:sldIdLst>
        </p14:section>
        <p14:section name="概要と機能" id="{38bf210b-d4b5-04b9-fec2-6cc56b35051f}">
          <p14:sldIdLst>
            <p14:sldId id="257"/>
            <p14:sldId id="258"/>
            <p14:sldId id="259"/>
          </p14:sldIdLst>
        </p14:section>
        <p14:section name="特徴" id="{cd601a0c-3a29-5c12-2134-6eaadb2ace66}">
          <p14:sldIdLst>
            <p14:sldId id="260"/>
          </p14:sldIdLst>
        </p14:section>
        <p14:section name="進捗状況" id="{3a1a93f7-3aaf-d224-7dbc-0e9afe427bf1}">
          <p14:sldIdLst>
            <p14:sldId id="261"/>
          </p14:sldIdLst>
        </p14:section>
        <p14:section name="注意点" id="{69c2ac1d-eb97-b03f-516a-1fed1bd7c7d3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-0"/>
          <p:cNvSpPr/>
          <p:nvPr/>
        </p:nvSpPr>
        <p:spPr>
          <a:xfrm>
            <a:off x="7635240" y="1143000"/>
            <a:ext cx="4023360" cy="4023360"/>
          </a:xfrm>
          <a:prstGeom prst="ellipse">
            <a:avLst/>
          </a:prstGeom>
          <a:ln w="19050">
            <a:solidFill>
              <a:schemeClr val="accent2">
                <a:alpha val="65000"/>
              </a:schemeClr>
            </a:solidFill>
            <a:prstDash val="solid"/>
          </a:ln>
        </p:spPr>
      </p:sp>
      <p:sp>
        <p:nvSpPr>
          <p:cNvPr id="3" name="ring-1"/>
          <p:cNvSpPr/>
          <p:nvPr/>
        </p:nvSpPr>
        <p:spPr>
          <a:xfrm>
            <a:off x="9968789" y="1143000"/>
            <a:ext cx="4023360" cy="4023360"/>
          </a:xfrm>
          <a:prstGeom prst="ellipse">
            <a:avLst/>
          </a:prstGeom>
          <a:ln w="19050">
            <a:solidFill>
              <a:schemeClr val="accent2">
                <a:alpha val="65000"/>
              </a:schemeClr>
            </a:solidFill>
            <a:prstDash val="solid"/>
          </a:ln>
        </p:spPr>
      </p:sp>
      <p:sp>
        <p:nvSpPr>
          <p:cNvPr id="4" name="cover-eyebrow"/>
          <p:cNvSpPr txBox="1"/>
          <p:nvPr/>
        </p:nvSpPr>
        <p:spPr>
          <a:xfrm>
            <a:off x="91440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BRIDAL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ブライダル業界向けシステム</a:t>
            </a:r>
            <a:endParaRPr lang="en-US" sz="1200" dirty="0"/>
          </a:p>
        </p:txBody>
      </p:sp>
      <p:sp>
        <p:nvSpPr>
          <p:cNvPr id="5" name="cover-title"/>
          <p:cNvSpPr txBox="1"/>
          <p:nvPr/>
        </p:nvSpPr>
        <p:spPr>
          <a:xfrm>
            <a:off x="914400" y="23774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spc="-100" kern="0" dirty="0">
                <a:solidFill>
                  <a:schemeClr val="bg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AIブライダルプランニング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spc="-100" kern="0" dirty="0">
                <a:solidFill>
                  <a:schemeClr val="bg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支援システム</a:t>
            </a:r>
            <a:endParaRPr lang="en-US" sz="4400" dirty="0"/>
          </a:p>
        </p:txBody>
      </p:sp>
      <p:sp>
        <p:nvSpPr>
          <p:cNvPr id="6" name="cover-sub"/>
          <p:cNvSpPr txBox="1"/>
          <p:nvPr/>
        </p:nvSpPr>
        <p:spPr>
          <a:xfrm>
            <a:off x="9144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システム概要・特徴・進捗のご説明</a:t>
            </a:r>
            <a:endParaRPr lang="en-US" sz="2000" dirty="0"/>
          </a:p>
        </p:txBody>
      </p:sp>
      <p:sp>
        <p:nvSpPr>
          <p:cNvPr id="7" name="cover-meta"/>
          <p:cNvSpPr txBox="1"/>
          <p:nvPr/>
        </p:nvSpPr>
        <p:spPr>
          <a:xfrm>
            <a:off x="914400" y="5257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基本設計書 v1.5（2026年9月7日改訂）に基づく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P2C：Creepy Code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-0"/>
          <p:cNvSpPr/>
          <p:nvPr/>
        </p:nvSpPr>
        <p:spPr>
          <a:xfrm>
            <a:off x="54864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</p:sp>
      <p:sp>
        <p:nvSpPr>
          <p:cNvPr id="3" name="ring-1"/>
          <p:cNvSpPr/>
          <p:nvPr/>
        </p:nvSpPr>
        <p:spPr>
          <a:xfrm>
            <a:off x="65471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</p:sp>
      <p:sp>
        <p:nvSpPr>
          <p:cNvPr id="4" name="eyebrow"/>
          <p:cNvSpPr txBox="1"/>
          <p:nvPr/>
        </p:nvSpPr>
        <p:spPr>
          <a:xfrm>
            <a:off x="896112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OVERVIEW</a:t>
            </a:r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システム概要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71323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AIが下準備し、プランナーが仕上げる仕組み</a:t>
            </a:r>
            <a:endParaRPr lang="en-US" sz="2800" dirty="0"/>
          </a:p>
        </p:txBody>
      </p:sp>
      <p:sp>
        <p:nvSpPr>
          <p:cNvPr id="6" name="genre-chip"/>
          <p:cNvSpPr/>
          <p:nvPr/>
        </p:nvSpPr>
        <p:spPr>
          <a:xfrm>
            <a:off x="548640" y="1627632"/>
            <a:ext cx="6812280" cy="420624"/>
          </a:xfrm>
          <a:prstGeom prst="roundRect">
            <a:avLst>
              <a:gd name="adj" fmla="val 173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genre"/>
          <p:cNvSpPr txBox="1"/>
          <p:nvPr/>
        </p:nvSpPr>
        <p:spPr>
          <a:xfrm>
            <a:off x="731520" y="1627632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ジャンル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ブライダル（結婚式のプランニング相談）</a:t>
            </a:r>
            <a:endParaRPr lang="en-US" sz="1500" dirty="0"/>
          </a:p>
        </p:txBody>
      </p:sp>
      <p:sp>
        <p:nvSpPr>
          <p:cNvPr id="8" name="sub"/>
          <p:cNvSpPr txBox="1"/>
          <p:nvPr/>
        </p:nvSpPr>
        <p:spPr>
          <a:xfrm>
            <a:off x="548640" y="2240280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業界の4つの課題を、AIを仲介役にまとめて解決する</a:t>
            </a:r>
            <a:endParaRPr lang="en-US" sz="1800" dirty="0"/>
          </a:p>
        </p:txBody>
      </p:sp>
      <p:sp>
        <p:nvSpPr>
          <p:cNvPr id="9" name="issue-0"/>
          <p:cNvSpPr/>
          <p:nvPr/>
        </p:nvSpPr>
        <p:spPr>
          <a:xfrm>
            <a:off x="548640" y="2743200"/>
            <a:ext cx="2697480" cy="69494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issue-t-0"/>
          <p:cNvSpPr txBox="1"/>
          <p:nvPr/>
        </p:nvSpPr>
        <p:spPr>
          <a:xfrm>
            <a:off x="685800" y="2743200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24時間対応ができない</a:t>
            </a:r>
            <a:endParaRPr lang="en-US" sz="1500" dirty="0"/>
          </a:p>
        </p:txBody>
      </p:sp>
      <p:sp>
        <p:nvSpPr>
          <p:cNvPr id="11" name="arrow-0"/>
          <p:cNvSpPr/>
          <p:nvPr/>
        </p:nvSpPr>
        <p:spPr>
          <a:xfrm rot="5400000">
            <a:off x="3383280" y="2990088"/>
            <a:ext cx="182880" cy="201168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ol-0"/>
          <p:cNvSpPr txBox="1"/>
          <p:nvPr/>
        </p:nvSpPr>
        <p:spPr>
          <a:xfrm>
            <a:off x="3703320" y="274320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AIが24時間、相談の入口を担う</a:t>
            </a:r>
            <a:endParaRPr lang="en-US" sz="1500" dirty="0"/>
          </a:p>
        </p:txBody>
      </p:sp>
      <p:sp>
        <p:nvSpPr>
          <p:cNvPr id="13" name="issue-1"/>
          <p:cNvSpPr/>
          <p:nvPr/>
        </p:nvSpPr>
        <p:spPr>
          <a:xfrm>
            <a:off x="548640" y="3566160"/>
            <a:ext cx="2697480" cy="69494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issue-t-1"/>
          <p:cNvSpPr txBox="1"/>
          <p:nvPr/>
        </p:nvSpPr>
        <p:spPr>
          <a:xfrm>
            <a:off x="685800" y="3566160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料金が不透明</a:t>
            </a:r>
            <a:endParaRPr lang="en-US" sz="1500" dirty="0"/>
          </a:p>
        </p:txBody>
      </p:sp>
      <p:sp>
        <p:nvSpPr>
          <p:cNvPr id="15" name="arrow-1"/>
          <p:cNvSpPr/>
          <p:nvPr/>
        </p:nvSpPr>
        <p:spPr>
          <a:xfrm rot="5400000">
            <a:off x="3383280" y="3813048"/>
            <a:ext cx="182880" cy="201168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sol-1"/>
          <p:cNvSpPr txBox="1"/>
          <p:nvPr/>
        </p:nvSpPr>
        <p:spPr>
          <a:xfrm>
            <a:off x="3703320" y="356616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予定金額を即時表示、固定／変動を色分け</a:t>
            </a:r>
            <a:endParaRPr lang="en-US" sz="1500" dirty="0"/>
          </a:p>
        </p:txBody>
      </p:sp>
      <p:sp>
        <p:nvSpPr>
          <p:cNvPr id="17" name="issue-2"/>
          <p:cNvSpPr/>
          <p:nvPr/>
        </p:nvSpPr>
        <p:spPr>
          <a:xfrm>
            <a:off x="548640" y="4389120"/>
            <a:ext cx="2697480" cy="69494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issue-t-2"/>
          <p:cNvSpPr txBox="1"/>
          <p:nvPr/>
        </p:nvSpPr>
        <p:spPr>
          <a:xfrm>
            <a:off x="685800" y="4389120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提案品質にばらつき</a:t>
            </a:r>
            <a:endParaRPr lang="en-US" sz="1500" dirty="0"/>
          </a:p>
        </p:txBody>
      </p:sp>
      <p:sp>
        <p:nvSpPr>
          <p:cNvPr id="19" name="arrow-2"/>
          <p:cNvSpPr/>
          <p:nvPr/>
        </p:nvSpPr>
        <p:spPr>
          <a:xfrm rot="5400000">
            <a:off x="3383280" y="4636008"/>
            <a:ext cx="182880" cy="201168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sol-2"/>
          <p:cNvSpPr txBox="1"/>
          <p:nvPr/>
        </p:nvSpPr>
        <p:spPr>
          <a:xfrm>
            <a:off x="3703320" y="438912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AIのプラン雛形で品質の底上げ</a:t>
            </a:r>
            <a:endParaRPr lang="en-US" sz="1500" dirty="0"/>
          </a:p>
        </p:txBody>
      </p:sp>
      <p:sp>
        <p:nvSpPr>
          <p:cNvPr id="21" name="issue-3"/>
          <p:cNvSpPr/>
          <p:nvPr/>
        </p:nvSpPr>
        <p:spPr>
          <a:xfrm>
            <a:off x="548640" y="5212080"/>
            <a:ext cx="2697480" cy="69494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issue-t-3"/>
          <p:cNvSpPr txBox="1"/>
          <p:nvPr/>
        </p:nvSpPr>
        <p:spPr>
          <a:xfrm>
            <a:off x="685800" y="5212080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何から決めるか分からない</a:t>
            </a:r>
            <a:endParaRPr lang="en-US" sz="1500" dirty="0"/>
          </a:p>
        </p:txBody>
      </p:sp>
      <p:sp>
        <p:nvSpPr>
          <p:cNvPr id="23" name="arrow-3"/>
          <p:cNvSpPr/>
          <p:nvPr/>
        </p:nvSpPr>
        <p:spPr>
          <a:xfrm rot="5400000">
            <a:off x="3383280" y="5458968"/>
            <a:ext cx="182880" cy="201168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sol-3"/>
          <p:cNvSpPr txBox="1"/>
          <p:nvPr/>
        </p:nvSpPr>
        <p:spPr>
          <a:xfrm>
            <a:off x="3703320" y="521208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段階的なヒアリングとAIの深掘り質問</a:t>
            </a:r>
            <a:endParaRPr lang="en-US" sz="1500" dirty="0"/>
          </a:p>
        </p:txBody>
      </p:sp>
      <p:sp>
        <p:nvSpPr>
          <p:cNvPr id="25" name="panel"/>
          <p:cNvSpPr/>
          <p:nvPr/>
        </p:nvSpPr>
        <p:spPr>
          <a:xfrm>
            <a:off x="7726680" y="1627632"/>
            <a:ext cx="3913632" cy="4544568"/>
          </a:xfrm>
          <a:prstGeom prst="roundRect">
            <a:avLst>
              <a:gd name="adj" fmla="val 233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users-h"/>
          <p:cNvSpPr txBox="1"/>
          <p:nvPr/>
        </p:nvSpPr>
        <p:spPr>
          <a:xfrm>
            <a:off x="8001000" y="1810512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利用者は4種類</a:t>
            </a:r>
            <a:endParaRPr lang="en-US" sz="1700" dirty="0"/>
          </a:p>
        </p:txBody>
      </p:sp>
      <p:sp>
        <p:nvSpPr>
          <p:cNvPr id="27" name="user-0"/>
          <p:cNvSpPr txBox="1"/>
          <p:nvPr/>
        </p:nvSpPr>
        <p:spPr>
          <a:xfrm>
            <a:off x="8001000" y="2240280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一般会員（顧客）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ヒアリング・料金試算・チャット・評価</a:t>
            </a:r>
            <a:endParaRPr lang="en-US" sz="1500" dirty="0"/>
          </a:p>
        </p:txBody>
      </p:sp>
      <p:sp>
        <p:nvSpPr>
          <p:cNvPr id="28" name="user-1"/>
          <p:cNvSpPr txBox="1"/>
          <p:nvPr/>
        </p:nvSpPr>
        <p:spPr>
          <a:xfrm>
            <a:off x="8001000" y="2825496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プランナー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AI雛形の編集と詳細プランの提出</a:t>
            </a:r>
            <a:endParaRPr lang="en-US" sz="1500" dirty="0"/>
          </a:p>
        </p:txBody>
      </p:sp>
      <p:sp>
        <p:nvSpPr>
          <p:cNvPr id="29" name="user-2"/>
          <p:cNvSpPr txBox="1"/>
          <p:nvPr/>
        </p:nvSpPr>
        <p:spPr>
          <a:xfrm>
            <a:off x="8001000" y="3410712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管理者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担当割り当て・料金マスタ・会員と品質の管理</a:t>
            </a:r>
            <a:endParaRPr lang="en-US" sz="1500" dirty="0"/>
          </a:p>
        </p:txBody>
      </p:sp>
      <p:sp>
        <p:nvSpPr>
          <p:cNvPr id="30" name="user-3"/>
          <p:cNvSpPr txBox="1"/>
          <p:nvPr/>
        </p:nvSpPr>
        <p:spPr>
          <a:xfrm>
            <a:off x="8001000" y="3995928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非会員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会員登録のみ</a:t>
            </a:r>
            <a:endParaRPr lang="en-US" sz="1500" dirty="0"/>
          </a:p>
        </p:txBody>
      </p:sp>
      <p:sp>
        <p:nvSpPr>
          <p:cNvPr id="31" name="panel-rule"/>
          <p:cNvSpPr/>
          <p:nvPr/>
        </p:nvSpPr>
        <p:spPr>
          <a:xfrm>
            <a:off x="8001000" y="4681728"/>
            <a:ext cx="3364992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32" name="stat-0"/>
          <p:cNvSpPr txBox="1"/>
          <p:nvPr/>
        </p:nvSpPr>
        <p:spPr>
          <a:xfrm>
            <a:off x="8001000" y="4754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Segoe UI Light" pitchFamily="34" charset="0"/>
                <a:ea typeface="Segoe UI Light" pitchFamily="34" charset="-128"/>
                <a:cs typeface="Segoe UI Light" pitchFamily="34" charset="-120"/>
              </a:rPr>
              <a:t>24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 画面</a:t>
            </a:r>
            <a:endParaRPr lang="en-US" sz="3000" dirty="0"/>
          </a:p>
        </p:txBody>
      </p:sp>
      <p:sp>
        <p:nvSpPr>
          <p:cNvPr id="33" name="stat-1"/>
          <p:cNvSpPr txBox="1"/>
          <p:nvPr/>
        </p:nvSpPr>
        <p:spPr>
          <a:xfrm>
            <a:off x="9144000" y="4754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Segoe UI Light" pitchFamily="34" charset="0"/>
                <a:ea typeface="Segoe UI Light" pitchFamily="34" charset="-128"/>
                <a:cs typeface="Segoe UI Light" pitchFamily="34" charset="-120"/>
              </a:rPr>
              <a:t>14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 機能</a:t>
            </a:r>
            <a:endParaRPr lang="en-US" sz="3000" dirty="0"/>
          </a:p>
        </p:txBody>
      </p:sp>
      <p:sp>
        <p:nvSpPr>
          <p:cNvPr id="34" name="stat-2"/>
          <p:cNvSpPr txBox="1"/>
          <p:nvPr/>
        </p:nvSpPr>
        <p:spPr>
          <a:xfrm>
            <a:off x="10287000" y="4754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Segoe UI Light" pitchFamily="34" charset="0"/>
                <a:ea typeface="Segoe UI Light" pitchFamily="34" charset="-128"/>
                <a:cs typeface="Segoe UI Light" pitchFamily="34" charset="-120"/>
              </a:rPr>
              <a:t>15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 テーブル</a:t>
            </a:r>
            <a:endParaRPr lang="en-US" sz="3000" dirty="0"/>
          </a:p>
        </p:txBody>
      </p:sp>
      <p:sp>
        <p:nvSpPr>
          <p:cNvPr id="35" name="stack"/>
          <p:cNvSpPr txBox="1"/>
          <p:nvPr/>
        </p:nvSpPr>
        <p:spPr>
          <a:xfrm>
            <a:off x="8001000" y="5394960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Spring Boot（Java）・Oracle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AWS・Claude API</a:t>
            </a:r>
            <a:endParaRPr lang="en-US" sz="1300" dirty="0"/>
          </a:p>
        </p:txBody>
      </p:sp>
      <p:sp>
        <p:nvSpPr>
          <p:cNvPr id="36" name="source"/>
          <p:cNvSpPr txBox="1"/>
          <p:nvPr/>
        </p:nvSpPr>
        <p:spPr>
          <a:xfrm>
            <a:off x="54864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出典：基本設計書 v1.5（P2C：Creepy Code）2-1〜2-2・3-1・5-1・6-1・7-1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-0"/>
          <p:cNvSpPr/>
          <p:nvPr/>
        </p:nvSpPr>
        <p:spPr>
          <a:xfrm>
            <a:off x="54864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</p:sp>
      <p:sp>
        <p:nvSpPr>
          <p:cNvPr id="3" name="ring-1"/>
          <p:cNvSpPr/>
          <p:nvPr/>
        </p:nvSpPr>
        <p:spPr>
          <a:xfrm>
            <a:off x="65471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</p:sp>
      <p:sp>
        <p:nvSpPr>
          <p:cNvPr id="4" name="eyebrow"/>
          <p:cNvSpPr txBox="1"/>
          <p:nvPr/>
        </p:nvSpPr>
        <p:spPr>
          <a:xfrm>
            <a:off x="896112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FEATURES</a:t>
            </a:r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主な機能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71323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プランは6段階の状態を経て、合意に至る</a:t>
            </a:r>
            <a:endParaRPr lang="en-US" sz="2800" dirty="0"/>
          </a:p>
        </p:txBody>
      </p:sp>
      <p:sp>
        <p:nvSpPr>
          <p:cNvPr id="6" name="flow-line"/>
          <p:cNvSpPr/>
          <p:nvPr/>
        </p:nvSpPr>
        <p:spPr>
          <a:xfrm>
            <a:off x="1403604" y="1847088"/>
            <a:ext cx="937260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7" name="num-circle"/>
          <p:cNvSpPr/>
          <p:nvPr/>
        </p:nvSpPr>
        <p:spPr>
          <a:xfrm>
            <a:off x="1220724" y="166420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um-label"/>
          <p:cNvSpPr txBox="1"/>
          <p:nvPr/>
        </p:nvSpPr>
        <p:spPr>
          <a:xfrm>
            <a:off x="1220724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tep-0"/>
          <p:cNvSpPr/>
          <p:nvPr/>
        </p:nvSpPr>
        <p:spPr>
          <a:xfrm>
            <a:off x="548640" y="2212848"/>
            <a:ext cx="1709928" cy="1572768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step-t-0"/>
          <p:cNvSpPr txBox="1"/>
          <p:nvPr/>
        </p:nvSpPr>
        <p:spPr>
          <a:xfrm>
            <a:off x="658368" y="2304288"/>
            <a:ext cx="1527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作成中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顧客・AI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ヒアリングに回答し、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AIが雛形を生成</a:t>
            </a:r>
            <a:endParaRPr lang="en-US" sz="1500" dirty="0"/>
          </a:p>
        </p:txBody>
      </p:sp>
      <p:sp>
        <p:nvSpPr>
          <p:cNvPr id="11" name="num-circle"/>
          <p:cNvSpPr/>
          <p:nvPr/>
        </p:nvSpPr>
        <p:spPr>
          <a:xfrm>
            <a:off x="3095244" y="166420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um-label"/>
          <p:cNvSpPr txBox="1"/>
          <p:nvPr/>
        </p:nvSpPr>
        <p:spPr>
          <a:xfrm>
            <a:off x="3095244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tep-1"/>
          <p:cNvSpPr/>
          <p:nvPr/>
        </p:nvSpPr>
        <p:spPr>
          <a:xfrm>
            <a:off x="2423160" y="2212848"/>
            <a:ext cx="1709928" cy="1572768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step-t-1"/>
          <p:cNvSpPr txBox="1"/>
          <p:nvPr/>
        </p:nvSpPr>
        <p:spPr>
          <a:xfrm>
            <a:off x="2532888" y="2304288"/>
            <a:ext cx="1527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AI提案確認中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顧客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AIの雛形を確認し、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プランナーに相談</a:t>
            </a:r>
            <a:endParaRPr lang="en-US" sz="1500" dirty="0"/>
          </a:p>
        </p:txBody>
      </p:sp>
      <p:sp>
        <p:nvSpPr>
          <p:cNvPr id="15" name="num-circle"/>
          <p:cNvSpPr/>
          <p:nvPr/>
        </p:nvSpPr>
        <p:spPr>
          <a:xfrm>
            <a:off x="4969764" y="166420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-label"/>
          <p:cNvSpPr txBox="1"/>
          <p:nvPr/>
        </p:nvSpPr>
        <p:spPr>
          <a:xfrm>
            <a:off x="4969764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tep-2"/>
          <p:cNvSpPr/>
          <p:nvPr/>
        </p:nvSpPr>
        <p:spPr>
          <a:xfrm>
            <a:off x="4297680" y="2212848"/>
            <a:ext cx="1709928" cy="1572768"/>
          </a:xfrm>
          <a:prstGeom prst="rect">
            <a:avLst/>
          </a:prstGeom>
          <a:solidFill>
            <a:schemeClr val="accent6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8" name="step-t-2"/>
          <p:cNvSpPr txBox="1"/>
          <p:nvPr/>
        </p:nvSpPr>
        <p:spPr>
          <a:xfrm>
            <a:off x="4407408" y="2304288"/>
            <a:ext cx="1527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プランナー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アサイン中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管理者（手動）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プランを見て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担当を割り当て</a:t>
            </a:r>
            <a:endParaRPr lang="en-US" sz="1500" dirty="0"/>
          </a:p>
        </p:txBody>
      </p:sp>
      <p:sp>
        <p:nvSpPr>
          <p:cNvPr id="19" name="new-badge"/>
          <p:cNvSpPr txBox="1"/>
          <p:nvPr/>
        </p:nvSpPr>
        <p:spPr>
          <a:xfrm>
            <a:off x="5047488" y="2057400"/>
            <a:ext cx="914400" cy="2743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v1.5で新設</a:t>
            </a:r>
            <a:endParaRPr lang="en-US" sz="1000" dirty="0"/>
          </a:p>
        </p:txBody>
      </p:sp>
      <p:sp>
        <p:nvSpPr>
          <p:cNvPr id="20" name="num-circle"/>
          <p:cNvSpPr/>
          <p:nvPr/>
        </p:nvSpPr>
        <p:spPr>
          <a:xfrm>
            <a:off x="6844284" y="166420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num-label"/>
          <p:cNvSpPr txBox="1"/>
          <p:nvPr/>
        </p:nvSpPr>
        <p:spPr>
          <a:xfrm>
            <a:off x="6844284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tep-3"/>
          <p:cNvSpPr/>
          <p:nvPr/>
        </p:nvSpPr>
        <p:spPr>
          <a:xfrm>
            <a:off x="6172200" y="2212848"/>
            <a:ext cx="1709928" cy="1572768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3" name="step-t-3"/>
          <p:cNvSpPr txBox="1"/>
          <p:nvPr/>
        </p:nvSpPr>
        <p:spPr>
          <a:xfrm>
            <a:off x="6281928" y="2304288"/>
            <a:ext cx="1527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プランナー準備中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プランナー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雛形と要点をもとに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詳細プランを作成</a:t>
            </a:r>
            <a:endParaRPr lang="en-US" sz="1500" dirty="0"/>
          </a:p>
        </p:txBody>
      </p:sp>
      <p:sp>
        <p:nvSpPr>
          <p:cNvPr id="24" name="num-circle"/>
          <p:cNvSpPr/>
          <p:nvPr/>
        </p:nvSpPr>
        <p:spPr>
          <a:xfrm>
            <a:off x="8718804" y="166420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num-label"/>
          <p:cNvSpPr txBox="1"/>
          <p:nvPr/>
        </p:nvSpPr>
        <p:spPr>
          <a:xfrm>
            <a:off x="8718804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step-4"/>
          <p:cNvSpPr/>
          <p:nvPr/>
        </p:nvSpPr>
        <p:spPr>
          <a:xfrm>
            <a:off x="8046720" y="2212848"/>
            <a:ext cx="1709928" cy="1572768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7" name="step-t-4"/>
          <p:cNvSpPr txBox="1"/>
          <p:nvPr/>
        </p:nvSpPr>
        <p:spPr>
          <a:xfrm>
            <a:off x="8156448" y="2304288"/>
            <a:ext cx="1527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顧客確認中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顧客⇄プランナー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チャットで調整し、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合意を確定</a:t>
            </a:r>
            <a:endParaRPr lang="en-US" sz="1500" dirty="0"/>
          </a:p>
        </p:txBody>
      </p:sp>
      <p:sp>
        <p:nvSpPr>
          <p:cNvPr id="28" name="num-circle"/>
          <p:cNvSpPr/>
          <p:nvPr/>
        </p:nvSpPr>
        <p:spPr>
          <a:xfrm>
            <a:off x="10593324" y="166420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num-label"/>
          <p:cNvSpPr txBox="1"/>
          <p:nvPr/>
        </p:nvSpPr>
        <p:spPr>
          <a:xfrm>
            <a:off x="10593324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step-5"/>
          <p:cNvSpPr/>
          <p:nvPr/>
        </p:nvSpPr>
        <p:spPr>
          <a:xfrm>
            <a:off x="9921240" y="2212848"/>
            <a:ext cx="1709928" cy="1572768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1" name="step-t-5"/>
          <p:cNvSpPr txBox="1"/>
          <p:nvPr/>
        </p:nvSpPr>
        <p:spPr>
          <a:xfrm>
            <a:off x="10030968" y="2304288"/>
            <a:ext cx="1527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合意済み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顧客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2種類の満足度を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5段階で評価</a:t>
            </a:r>
            <a:endParaRPr lang="en-US" sz="1500" dirty="0"/>
          </a:p>
        </p:txBody>
      </p:sp>
      <p:sp>
        <p:nvSpPr>
          <p:cNvPr id="32" name="func-h"/>
          <p:cNvSpPr txBox="1"/>
          <p:nvPr/>
        </p:nvSpPr>
        <p:spPr>
          <a:xfrm>
            <a:off x="548640" y="40416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利用者別の主な機能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全14機能</a:t>
            </a:r>
            <a:endParaRPr lang="en-US" sz="1700" dirty="0"/>
          </a:p>
        </p:txBody>
      </p:sp>
      <p:sp>
        <p:nvSpPr>
          <p:cNvPr id="33" name="func-common"/>
          <p:cNvSpPr txBox="1"/>
          <p:nvPr/>
        </p:nvSpPr>
        <p:spPr>
          <a:xfrm>
            <a:off x="6153912" y="40416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全員共通：会員登録・ログイン・パスワードリセット</a:t>
            </a:r>
            <a:endParaRPr lang="en-US" sz="1300" dirty="0"/>
          </a:p>
        </p:txBody>
      </p:sp>
      <p:sp>
        <p:nvSpPr>
          <p:cNvPr id="34" name="func-rule"/>
          <p:cNvSpPr/>
          <p:nvPr/>
        </p:nvSpPr>
        <p:spPr>
          <a:xfrm>
            <a:off x="548640" y="4462272"/>
            <a:ext cx="110916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5" name="col-h-0"/>
          <p:cNvSpPr txBox="1"/>
          <p:nvPr/>
        </p:nvSpPr>
        <p:spPr>
          <a:xfrm>
            <a:off x="548640" y="45537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顧客（一般会員）</a:t>
            </a:r>
            <a:endParaRPr lang="en-US" sz="1500" dirty="0"/>
          </a:p>
        </p:txBody>
      </p:sp>
      <p:sp>
        <p:nvSpPr>
          <p:cNvPr id="36" name="col-0"/>
          <p:cNvSpPr txBox="1"/>
          <p:nvPr/>
        </p:nvSpPr>
        <p:spPr>
          <a:xfrm>
            <a:off x="548640" y="4882896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事前ヒアリング（4ステップ）</a:t>
            </a:r>
            <a:endParaRPr lang="en-US" sz="14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AI深掘り質問（3〜5問）</a:t>
            </a:r>
            <a:endParaRPr lang="en-US" sz="14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料金シミュレーション</a:t>
            </a:r>
            <a:endParaRPr lang="en-US" sz="14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チャット（画像・PDF添付）</a:t>
            </a:r>
            <a:endParaRPr lang="en-US" sz="14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満足度評価（2種類）</a:t>
            </a:r>
            <a:endParaRPr lang="en-US" sz="1400" dirty="0"/>
          </a:p>
        </p:txBody>
      </p:sp>
      <p:sp>
        <p:nvSpPr>
          <p:cNvPr id="37" name="col-h-1"/>
          <p:cNvSpPr txBox="1"/>
          <p:nvPr/>
        </p:nvSpPr>
        <p:spPr>
          <a:xfrm>
            <a:off x="4334256" y="45537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プランナー</a:t>
            </a:r>
            <a:endParaRPr lang="en-US" sz="1500" dirty="0"/>
          </a:p>
        </p:txBody>
      </p:sp>
      <p:sp>
        <p:nvSpPr>
          <p:cNvPr id="38" name="col-1"/>
          <p:cNvSpPr txBox="1"/>
          <p:nvPr/>
        </p:nvSpPr>
        <p:spPr>
          <a:xfrm>
            <a:off x="4334256" y="4882896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AI雛形・価値観の要点の編集</a:t>
            </a:r>
            <a:endParaRPr lang="en-US" sz="14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詳細プランの作成・提出</a:t>
            </a:r>
            <a:endParaRPr lang="en-US" sz="14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チェックリスト・類似事例</a:t>
            </a:r>
            <a:endParaRPr lang="en-US" sz="14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会話履歴の閲覧</a:t>
            </a:r>
            <a:endParaRPr lang="en-US" sz="14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チャット・料金シミュレーション</a:t>
            </a:r>
            <a:endParaRPr lang="en-US" sz="1400" dirty="0"/>
          </a:p>
        </p:txBody>
      </p:sp>
      <p:sp>
        <p:nvSpPr>
          <p:cNvPr id="39" name="col-h-2"/>
          <p:cNvSpPr txBox="1"/>
          <p:nvPr/>
        </p:nvSpPr>
        <p:spPr>
          <a:xfrm>
            <a:off x="8119872" y="45537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管理者</a:t>
            </a:r>
            <a:endParaRPr lang="en-US" sz="1500" dirty="0"/>
          </a:p>
        </p:txBody>
      </p:sp>
      <p:sp>
        <p:nvSpPr>
          <p:cNvPr id="40" name="col-2"/>
          <p:cNvSpPr txBox="1"/>
          <p:nvPr/>
        </p:nvSpPr>
        <p:spPr>
          <a:xfrm>
            <a:off x="8119872" y="4882896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プランナー管理（担当割り当て）</a:t>
            </a:r>
            <a:endParaRPr lang="en-US" sz="14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料金マスタ管理</a:t>
            </a:r>
            <a:endParaRPr lang="en-US" sz="14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プランナー品質ダッシュボード</a:t>
            </a:r>
            <a:endParaRPr lang="en-US" sz="1400" dirty="0"/>
          </a:p>
          <a:p>
            <a:pPr marL="165100" indent="-1651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会員情報管理</a:t>
            </a:r>
            <a:endParaRPr lang="en-US" sz="1400" dirty="0"/>
          </a:p>
        </p:txBody>
      </p:sp>
      <p:sp>
        <p:nvSpPr>
          <p:cNvPr id="41" name="source"/>
          <p:cNvSpPr txBox="1"/>
          <p:nvPr/>
        </p:nvSpPr>
        <p:spPr>
          <a:xfrm>
            <a:off x="54864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出典：基本設計書 v1.5（P2C：Creepy Code）4-1〜4-2・6-1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-0"/>
          <p:cNvSpPr/>
          <p:nvPr/>
        </p:nvSpPr>
        <p:spPr>
          <a:xfrm>
            <a:off x="54864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</p:sp>
      <p:sp>
        <p:nvSpPr>
          <p:cNvPr id="3" name="ring-1"/>
          <p:cNvSpPr/>
          <p:nvPr/>
        </p:nvSpPr>
        <p:spPr>
          <a:xfrm>
            <a:off x="65471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</p:sp>
      <p:sp>
        <p:nvSpPr>
          <p:cNvPr id="4" name="eyebrow"/>
          <p:cNvSpPr txBox="1"/>
          <p:nvPr/>
        </p:nvSpPr>
        <p:spPr>
          <a:xfrm>
            <a:off x="896112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CORE FLOW</a:t>
            </a:r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アンケートからたたき台まで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71323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4ステップの回答とAIの深掘りで、たたき台ができる</a:t>
            </a:r>
            <a:endParaRPr lang="en-US" sz="2800" dirty="0"/>
          </a:p>
        </p:txBody>
      </p:sp>
      <p:sp>
        <p:nvSpPr>
          <p:cNvPr id="6" name="zone-h"/>
          <p:cNvSpPr txBox="1"/>
          <p:nvPr/>
        </p:nvSpPr>
        <p:spPr>
          <a:xfrm>
            <a:off x="548640" y="159105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顧客が答える事前ヒアリング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Segoe UI" pitchFamily="34" charset="0"/>
                <a:ea typeface="Segoe UI" pitchFamily="34" charset="-128"/>
                <a:cs typeface="Segoe UI" pitchFamily="34" charset="-120"/>
              </a:rPr>
              <a:t>　P-06〜P-09</a:t>
            </a:r>
            <a:endParaRPr lang="en-US" sz="1700" dirty="0"/>
          </a:p>
        </p:txBody>
      </p:sp>
      <p:sp>
        <p:nvSpPr>
          <p:cNvPr id="7" name="hear-0"/>
          <p:cNvSpPr/>
          <p:nvPr/>
        </p:nvSpPr>
        <p:spPr>
          <a:xfrm>
            <a:off x="548640" y="2057400"/>
            <a:ext cx="4434840" cy="9144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num-circle"/>
          <p:cNvSpPr/>
          <p:nvPr/>
        </p:nvSpPr>
        <p:spPr>
          <a:xfrm>
            <a:off x="713232" y="23042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um-label"/>
          <p:cNvSpPr txBox="1"/>
          <p:nvPr/>
        </p:nvSpPr>
        <p:spPr>
          <a:xfrm>
            <a:off x="713232" y="2304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hear-t-0"/>
          <p:cNvSpPr txBox="1"/>
          <p:nvPr/>
        </p:nvSpPr>
        <p:spPr>
          <a:xfrm>
            <a:off x="1298448" y="2130552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アーキタイプ選択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5種類のカップル像から1つ選ぶ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（「まだイメージできない」も可）</a:t>
            </a:r>
            <a:endParaRPr lang="en-US" sz="1500" dirty="0"/>
          </a:p>
        </p:txBody>
      </p:sp>
      <p:sp>
        <p:nvSpPr>
          <p:cNvPr id="11" name="hear-1"/>
          <p:cNvSpPr/>
          <p:nvPr/>
        </p:nvSpPr>
        <p:spPr>
          <a:xfrm>
            <a:off x="548640" y="3081528"/>
            <a:ext cx="4434840" cy="9144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num-circle"/>
          <p:cNvSpPr/>
          <p:nvPr/>
        </p:nvSpPr>
        <p:spPr>
          <a:xfrm>
            <a:off x="713232" y="332841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um-label"/>
          <p:cNvSpPr txBox="1"/>
          <p:nvPr/>
        </p:nvSpPr>
        <p:spPr>
          <a:xfrm>
            <a:off x="713232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hear-t-1"/>
          <p:cNvSpPr txBox="1"/>
          <p:nvPr/>
        </p:nvSpPr>
        <p:spPr>
          <a:xfrm>
            <a:off x="1298448" y="3154680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ビジュアル選択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式場・装飾・ドレスの画像から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スワイプで好みを選ぶ</a:t>
            </a:r>
            <a:endParaRPr lang="en-US" sz="1500" dirty="0"/>
          </a:p>
        </p:txBody>
      </p:sp>
      <p:sp>
        <p:nvSpPr>
          <p:cNvPr id="15" name="hear-2"/>
          <p:cNvSpPr/>
          <p:nvPr/>
        </p:nvSpPr>
        <p:spPr>
          <a:xfrm>
            <a:off x="548640" y="4105656"/>
            <a:ext cx="4434840" cy="9144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num-circle"/>
          <p:cNvSpPr/>
          <p:nvPr/>
        </p:nvSpPr>
        <p:spPr>
          <a:xfrm>
            <a:off x="713232" y="435254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-label"/>
          <p:cNvSpPr txBox="1"/>
          <p:nvPr/>
        </p:nvSpPr>
        <p:spPr>
          <a:xfrm>
            <a:off x="713232" y="4352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hear-t-2"/>
          <p:cNvSpPr txBox="1"/>
          <p:nvPr/>
        </p:nvSpPr>
        <p:spPr>
          <a:xfrm>
            <a:off x="1298448" y="4178808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基本情報入力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希望日程と予算を入力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（「まだ決まっていない」も可）</a:t>
            </a:r>
            <a:endParaRPr lang="en-US" sz="1500" dirty="0"/>
          </a:p>
        </p:txBody>
      </p:sp>
      <p:sp>
        <p:nvSpPr>
          <p:cNvPr id="19" name="hear-3"/>
          <p:cNvSpPr/>
          <p:nvPr/>
        </p:nvSpPr>
        <p:spPr>
          <a:xfrm>
            <a:off x="548640" y="5129784"/>
            <a:ext cx="4434840" cy="9144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num-circle"/>
          <p:cNvSpPr/>
          <p:nvPr/>
        </p:nvSpPr>
        <p:spPr>
          <a:xfrm>
            <a:off x="713232" y="537667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num-label"/>
          <p:cNvSpPr txBox="1"/>
          <p:nvPr/>
        </p:nvSpPr>
        <p:spPr>
          <a:xfrm>
            <a:off x="713232" y="5376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hear-t-3"/>
          <p:cNvSpPr txBox="1"/>
          <p:nvPr/>
        </p:nvSpPr>
        <p:spPr>
          <a:xfrm>
            <a:off x="1298448" y="5202936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タグ選択（任意）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「決められないこと」と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「こだわりたいこと」をタグで選ぶ</a:t>
            </a:r>
            <a:endParaRPr lang="en-US" sz="1500" dirty="0"/>
          </a:p>
        </p:txBody>
      </p:sp>
      <p:sp>
        <p:nvSpPr>
          <p:cNvPr id="23" name="zone-arrow"/>
          <p:cNvSpPr/>
          <p:nvPr/>
        </p:nvSpPr>
        <p:spPr>
          <a:xfrm rot="5400000">
            <a:off x="5047488" y="3749040"/>
            <a:ext cx="219456" cy="237744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zone-h"/>
          <p:cNvSpPr txBox="1"/>
          <p:nvPr/>
        </p:nvSpPr>
        <p:spPr>
          <a:xfrm>
            <a:off x="5394960" y="15910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AIが深掘りして生成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25" name="ai-0"/>
          <p:cNvSpPr/>
          <p:nvPr/>
        </p:nvSpPr>
        <p:spPr>
          <a:xfrm>
            <a:off x="5394960" y="2057400"/>
            <a:ext cx="3017520" cy="19659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ai-h-0"/>
          <p:cNvSpPr txBox="1"/>
          <p:nvPr/>
        </p:nvSpPr>
        <p:spPr>
          <a:xfrm>
            <a:off x="5577840" y="21945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AI深掘り質問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Segoe UI" pitchFamily="34" charset="0"/>
                <a:ea typeface="Segoe UI" pitchFamily="34" charset="-128"/>
                <a:cs typeface="Segoe UI" pitchFamily="34" charset="-120"/>
              </a:rPr>
              <a:t>　P-10</a:t>
            </a:r>
            <a:endParaRPr lang="en-US" sz="1500" dirty="0"/>
          </a:p>
        </p:txBody>
      </p:sp>
      <p:sp>
        <p:nvSpPr>
          <p:cNvPr id="27" name="ai-b-0"/>
          <p:cNvSpPr txBox="1"/>
          <p:nvPr/>
        </p:nvSpPr>
        <p:spPr>
          <a:xfrm>
            <a:off x="5577840" y="2587752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Step1〜4の回答をもとに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価値観・優先順位を探る質問を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3〜5問選別・生成</a:t>
            </a:r>
            <a:endParaRPr lang="en-US" sz="1300" dirty="0"/>
          </a:p>
          <a:p>
            <a:pPr indent="0" marL="0">
              <a:lnSpc>
                <a:spcPct val="11000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例：「これだけは譲れない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ポイントは？」</a:t>
            </a:r>
            <a:endParaRPr lang="en-US" sz="1300" dirty="0"/>
          </a:p>
        </p:txBody>
      </p:sp>
      <p:sp>
        <p:nvSpPr>
          <p:cNvPr id="28" name="ai-1"/>
          <p:cNvSpPr/>
          <p:nvPr/>
        </p:nvSpPr>
        <p:spPr>
          <a:xfrm>
            <a:off x="5394960" y="4160520"/>
            <a:ext cx="3017520" cy="188366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ai-h-1"/>
          <p:cNvSpPr txBox="1"/>
          <p:nvPr/>
        </p:nvSpPr>
        <p:spPr>
          <a:xfrm>
            <a:off x="5577840" y="42976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たたき台を生成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Segoe UI" pitchFamily="34" charset="0"/>
                <a:ea typeface="Segoe UI" pitchFamily="34" charset="-128"/>
                <a:cs typeface="Segoe UI" pitchFamily="34" charset="-120"/>
              </a:rPr>
              <a:t>　P-11</a:t>
            </a:r>
            <a:endParaRPr lang="en-US" sz="1500" dirty="0"/>
          </a:p>
        </p:txBody>
      </p:sp>
      <p:sp>
        <p:nvSpPr>
          <p:cNvPr id="30" name="ai-b-1"/>
          <p:cNvSpPr txBox="1"/>
          <p:nvPr/>
        </p:nvSpPr>
        <p:spPr>
          <a:xfrm>
            <a:off x="5577840" y="4690872"/>
            <a:ext cx="27432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全回答をClaude APIに渡し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数秒〜数十秒で生成</a:t>
            </a:r>
            <a:endParaRPr lang="en-US" sz="1300" dirty="0"/>
          </a:p>
          <a:p>
            <a:pPr indent="0" marL="0">
              <a:lnSpc>
                <a:spcPct val="11000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応答が30秒を超えたら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「やり直す」を表示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3回失敗で手動作成を案内</a:t>
            </a:r>
            <a:endParaRPr lang="en-US" sz="1300" dirty="0"/>
          </a:p>
        </p:txBody>
      </p:sp>
      <p:sp>
        <p:nvSpPr>
          <p:cNvPr id="31" name="zone-arrow"/>
          <p:cNvSpPr/>
          <p:nvPr/>
        </p:nvSpPr>
        <p:spPr>
          <a:xfrm rot="5400000">
            <a:off x="8476488" y="3749040"/>
            <a:ext cx="219456" cy="237744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draft-panel"/>
          <p:cNvSpPr/>
          <p:nvPr/>
        </p:nvSpPr>
        <p:spPr>
          <a:xfrm>
            <a:off x="8805672" y="1591056"/>
            <a:ext cx="2834640" cy="4453128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draft-h"/>
          <p:cNvSpPr txBox="1"/>
          <p:nvPr/>
        </p:nvSpPr>
        <p:spPr>
          <a:xfrm>
            <a:off x="9034272" y="175564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bg2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できあがるたたき台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マイプラン（P-12）で確認</a:t>
            </a:r>
            <a:endParaRPr lang="en-US" sz="1700" dirty="0"/>
          </a:p>
        </p:txBody>
      </p:sp>
      <p:sp>
        <p:nvSpPr>
          <p:cNvPr id="34" name="draft-items"/>
          <p:cNvSpPr txBox="1"/>
          <p:nvPr/>
        </p:nvSpPr>
        <p:spPr>
          <a:xfrm>
            <a:off x="9034272" y="2542032"/>
            <a:ext cx="2423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プランの大枠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会場案・料理スタイル・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演出案など</a:t>
            </a:r>
            <a:endParaRPr lang="en-US" sz="1400" dirty="0"/>
          </a:p>
          <a:p>
            <a:pPr indent="0" marL="0">
              <a:lnSpc>
                <a:spcPct val="108000"/>
              </a:lnSpc>
              <a:spcBef>
                <a:spcPts val="1000"/>
              </a:spcBef>
              <a:buNone/>
            </a:pPr>
            <a:r>
              <a:rPr lang="en-US" sz="14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価値観の要点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大事にしていること・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削ってよい部分とその順位</a:t>
            </a:r>
            <a:endParaRPr lang="en-US" sz="1400" dirty="0"/>
          </a:p>
          <a:p>
            <a:pPr indent="0" marL="0">
              <a:lnSpc>
                <a:spcPct val="108000"/>
              </a:lnSpc>
              <a:spcBef>
                <a:spcPts val="1000"/>
              </a:spcBef>
              <a:buNone/>
            </a:pPr>
            <a:r>
              <a:rPr lang="en-US" sz="14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チェックリスト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式日までの決定事項と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推奨期限（プランナー向け）</a:t>
            </a:r>
            <a:endParaRPr lang="en-US" sz="1400" dirty="0"/>
          </a:p>
        </p:txBody>
      </p:sp>
      <p:sp>
        <p:nvSpPr>
          <p:cNvPr id="35" name="draft-rule"/>
          <p:cNvSpPr/>
          <p:nvPr/>
        </p:nvSpPr>
        <p:spPr>
          <a:xfrm>
            <a:off x="9034272" y="4956048"/>
            <a:ext cx="237744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36" name="draft-next"/>
          <p:cNvSpPr txBox="1"/>
          <p:nvPr/>
        </p:nvSpPr>
        <p:spPr>
          <a:xfrm>
            <a:off x="9034272" y="5047488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料金シミュレーションも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ここから使える</a:t>
            </a:r>
            <a:endParaRPr lang="en-US" sz="1300" dirty="0"/>
          </a:p>
          <a:p>
            <a:pPr indent="0" marL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3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「プランナーに相談する」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ボタンで送付</a:t>
            </a:r>
            <a:endParaRPr lang="en-US" sz="1300" dirty="0"/>
          </a:p>
        </p:txBody>
      </p:sp>
      <p:sp>
        <p:nvSpPr>
          <p:cNvPr id="37" name="source"/>
          <p:cNvSpPr txBox="1"/>
          <p:nvPr/>
        </p:nvSpPr>
        <p:spPr>
          <a:xfrm>
            <a:off x="54864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出典：基本設計書 v1.5（P2C：Creepy Code）3-3・5-3・6-3・6-5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-0"/>
          <p:cNvSpPr/>
          <p:nvPr/>
        </p:nvSpPr>
        <p:spPr>
          <a:xfrm>
            <a:off x="54864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</p:sp>
      <p:sp>
        <p:nvSpPr>
          <p:cNvPr id="3" name="ring-1"/>
          <p:cNvSpPr/>
          <p:nvPr/>
        </p:nvSpPr>
        <p:spPr>
          <a:xfrm>
            <a:off x="65471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</p:sp>
      <p:sp>
        <p:nvSpPr>
          <p:cNvPr id="4" name="eyebrow"/>
          <p:cNvSpPr txBox="1"/>
          <p:nvPr/>
        </p:nvSpPr>
        <p:spPr>
          <a:xfrm>
            <a:off x="896112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HIGHLIGHTS</a:t>
            </a:r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システムの特徴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71323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特徴は「AIや自動処理に任せきらない」設計</a:t>
            </a:r>
            <a:endParaRPr lang="en-US" sz="2800" dirty="0"/>
          </a:p>
        </p:txBody>
      </p:sp>
      <p:sp>
        <p:nvSpPr>
          <p:cNvPr id="6" name="card-0"/>
          <p:cNvSpPr/>
          <p:nvPr/>
        </p:nvSpPr>
        <p:spPr>
          <a:xfrm>
            <a:off x="548640" y="1627632"/>
            <a:ext cx="5413248" cy="2194560"/>
          </a:xfrm>
          <a:prstGeom prst="roundRect">
            <a:avLst>
              <a:gd name="adj" fmla="val 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num-circle"/>
          <p:cNvSpPr/>
          <p:nvPr/>
        </p:nvSpPr>
        <p:spPr>
          <a:xfrm>
            <a:off x="804672" y="18562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um-label"/>
          <p:cNvSpPr txBox="1"/>
          <p:nvPr/>
        </p:nvSpPr>
        <p:spPr>
          <a:xfrm>
            <a:off x="804672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card-h-0"/>
          <p:cNvSpPr txBox="1"/>
          <p:nvPr/>
        </p:nvSpPr>
        <p:spPr>
          <a:xfrm>
            <a:off x="1371600" y="1856232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価値観の要点を申し送る</a:t>
            </a:r>
            <a:endParaRPr lang="en-US" sz="1900" dirty="0"/>
          </a:p>
        </p:txBody>
      </p:sp>
      <p:sp>
        <p:nvSpPr>
          <p:cNvPr id="10" name="card-b-0"/>
          <p:cNvSpPr txBox="1"/>
          <p:nvPr/>
        </p:nvSpPr>
        <p:spPr>
          <a:xfrm>
            <a:off x="822960" y="2432304"/>
            <a:ext cx="4956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回答をもとにAIが追加質問を3〜5問生成</a:t>
            </a:r>
            <a:endParaRPr lang="en-US" sz="16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大事なこと・削ってよい部分と、その順位を整理</a:t>
            </a:r>
            <a:endParaRPr lang="en-US" sz="16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雛形と一緒に担当プランナーへ届ける</a:t>
            </a:r>
            <a:endParaRPr lang="en-US" sz="1600" dirty="0"/>
          </a:p>
        </p:txBody>
      </p:sp>
      <p:sp>
        <p:nvSpPr>
          <p:cNvPr id="11" name="card-1"/>
          <p:cNvSpPr/>
          <p:nvPr/>
        </p:nvSpPr>
        <p:spPr>
          <a:xfrm>
            <a:off x="6227064" y="1627632"/>
            <a:ext cx="5413248" cy="2194560"/>
          </a:xfrm>
          <a:prstGeom prst="roundRect">
            <a:avLst>
              <a:gd name="adj" fmla="val 3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num-circle"/>
          <p:cNvSpPr/>
          <p:nvPr/>
        </p:nvSpPr>
        <p:spPr>
          <a:xfrm>
            <a:off x="6483096" y="18562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um-label"/>
          <p:cNvSpPr txBox="1"/>
          <p:nvPr/>
        </p:nvSpPr>
        <p:spPr>
          <a:xfrm>
            <a:off x="6483096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card-h-1"/>
          <p:cNvSpPr txBox="1"/>
          <p:nvPr/>
        </p:nvSpPr>
        <p:spPr>
          <a:xfrm>
            <a:off x="7050024" y="1856232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料金を黙って書き換えない</a:t>
            </a:r>
            <a:endParaRPr lang="en-US" sz="1900" dirty="0"/>
          </a:p>
        </p:txBody>
      </p:sp>
      <p:sp>
        <p:nvSpPr>
          <p:cNvPr id="15" name="card-b-1"/>
          <p:cNvSpPr txBox="1"/>
          <p:nvPr/>
        </p:nvSpPr>
        <p:spPr>
          <a:xfrm>
            <a:off x="6501384" y="2432304"/>
            <a:ext cx="4956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予定金額を1秒以内に更新、固定／変動を色分け</a:t>
            </a:r>
            <a:endParaRPr lang="en-US" sz="16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価格改定時は旧価格・新価格・差額を並べて提示</a:t>
            </a:r>
            <a:endParaRPr lang="en-US" sz="16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合意前に差額を示し、同意を必須に</a:t>
            </a:r>
            <a:endParaRPr lang="en-US" sz="16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合意済みのプランは改定の影響を受けない</a:t>
            </a:r>
            <a:endParaRPr lang="en-US" sz="1600" dirty="0"/>
          </a:p>
        </p:txBody>
      </p:sp>
      <p:sp>
        <p:nvSpPr>
          <p:cNvPr id="16" name="card-2"/>
          <p:cNvSpPr/>
          <p:nvPr/>
        </p:nvSpPr>
        <p:spPr>
          <a:xfrm>
            <a:off x="548640" y="4005072"/>
            <a:ext cx="5413248" cy="2194560"/>
          </a:xfrm>
          <a:prstGeom prst="roundRect">
            <a:avLst>
              <a:gd name="adj" fmla="val 3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num-circle"/>
          <p:cNvSpPr/>
          <p:nvPr/>
        </p:nvSpPr>
        <p:spPr>
          <a:xfrm>
            <a:off x="804672" y="423367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-label"/>
          <p:cNvSpPr txBox="1"/>
          <p:nvPr/>
        </p:nvSpPr>
        <p:spPr>
          <a:xfrm>
            <a:off x="804672" y="4233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card-h-2"/>
          <p:cNvSpPr txBox="1"/>
          <p:nvPr/>
        </p:nvSpPr>
        <p:spPr>
          <a:xfrm>
            <a:off x="1371600" y="4233672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会話の原文を消さない</a:t>
            </a:r>
            <a:endParaRPr lang="en-US" sz="1900" dirty="0"/>
          </a:p>
        </p:txBody>
      </p:sp>
      <p:sp>
        <p:nvSpPr>
          <p:cNvPr id="20" name="card-b-2"/>
          <p:cNvSpPr txBox="1"/>
          <p:nvPr/>
        </p:nvSpPr>
        <p:spPr>
          <a:xfrm>
            <a:off x="822960" y="4809744"/>
            <a:ext cx="4956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対話をMarkdownで保存し、顧客とプランに紐づけ</a:t>
            </a:r>
            <a:endParaRPr lang="en-US" sz="16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対話ログのみ圧縮、確定情報と価値観は原文のまま</a:t>
            </a:r>
            <a:endParaRPr lang="en-US" sz="16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類似事例はOracleの過去プランから検索して要約</a:t>
            </a:r>
            <a:endParaRPr lang="en-US" sz="1600" dirty="0"/>
          </a:p>
        </p:txBody>
      </p:sp>
      <p:sp>
        <p:nvSpPr>
          <p:cNvPr id="21" name="card-3"/>
          <p:cNvSpPr/>
          <p:nvPr/>
        </p:nvSpPr>
        <p:spPr>
          <a:xfrm>
            <a:off x="6227064" y="4005072"/>
            <a:ext cx="5413248" cy="2194560"/>
          </a:xfrm>
          <a:prstGeom prst="roundRect">
            <a:avLst>
              <a:gd name="adj" fmla="val 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num-circle"/>
          <p:cNvSpPr/>
          <p:nvPr/>
        </p:nvSpPr>
        <p:spPr>
          <a:xfrm>
            <a:off x="6483096" y="423367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num-label"/>
          <p:cNvSpPr txBox="1"/>
          <p:nvPr/>
        </p:nvSpPr>
        <p:spPr>
          <a:xfrm>
            <a:off x="6483096" y="4233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card-h-3"/>
          <p:cNvSpPr txBox="1"/>
          <p:nvPr/>
        </p:nvSpPr>
        <p:spPr>
          <a:xfrm>
            <a:off x="7050024" y="4233672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担当は人が決め、品質は数値で見る</a:t>
            </a:r>
            <a:endParaRPr lang="en-US" sz="1900" dirty="0"/>
          </a:p>
        </p:txBody>
      </p:sp>
      <p:sp>
        <p:nvSpPr>
          <p:cNvPr id="25" name="card-b-3"/>
          <p:cNvSpPr txBox="1"/>
          <p:nvPr/>
        </p:nvSpPr>
        <p:spPr>
          <a:xfrm>
            <a:off x="6501384" y="4809744"/>
            <a:ext cx="4956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管理者がプラン内容を見て、担当を手動で割り当て</a:t>
            </a:r>
            <a:endParaRPr lang="en-US" sz="16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満足度とAI雛形の修正差分数を一覧で確認</a:t>
            </a:r>
            <a:endParaRPr lang="en-US" sz="16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修正前後の内容を残し、AIの改善材料にする</a:t>
            </a:r>
            <a:endParaRPr lang="en-US" sz="1600" dirty="0"/>
          </a:p>
        </p:txBody>
      </p:sp>
      <p:sp>
        <p:nvSpPr>
          <p:cNvPr id="26" name="source"/>
          <p:cNvSpPr txBox="1"/>
          <p:nvPr/>
        </p:nvSpPr>
        <p:spPr>
          <a:xfrm>
            <a:off x="54864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出典：基本設計書 v1.5（P2C：Creepy Code）3-3・6-3〜6-6・6-8・6-11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-0"/>
          <p:cNvSpPr/>
          <p:nvPr/>
        </p:nvSpPr>
        <p:spPr>
          <a:xfrm>
            <a:off x="54864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</p:sp>
      <p:sp>
        <p:nvSpPr>
          <p:cNvPr id="3" name="ring-1"/>
          <p:cNvSpPr/>
          <p:nvPr/>
        </p:nvSpPr>
        <p:spPr>
          <a:xfrm>
            <a:off x="65471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</p:sp>
      <p:sp>
        <p:nvSpPr>
          <p:cNvPr id="4" name="eyebrow"/>
          <p:cNvSpPr txBox="1"/>
          <p:nvPr/>
        </p:nvSpPr>
        <p:spPr>
          <a:xfrm>
            <a:off x="896112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PROGRESS</a:t>
            </a:r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プロジェクトの進捗状況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71323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基本設計はv1.5で完了、次は環境構築へ</a:t>
            </a:r>
            <a:endParaRPr lang="en-US" sz="2800" dirty="0"/>
          </a:p>
        </p:txBody>
      </p:sp>
      <p:sp>
        <p:nvSpPr>
          <p:cNvPr id="6" name="tl-line"/>
          <p:cNvSpPr/>
          <p:nvPr/>
        </p:nvSpPr>
        <p:spPr>
          <a:xfrm>
            <a:off x="1325880" y="2176272"/>
            <a:ext cx="81838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7" name="tl-next"/>
          <p:cNvSpPr/>
          <p:nvPr/>
        </p:nvSpPr>
        <p:spPr>
          <a:xfrm>
            <a:off x="9509760" y="2176272"/>
            <a:ext cx="163677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8" name="tl-node-0"/>
          <p:cNvSpPr/>
          <p:nvPr/>
        </p:nvSpPr>
        <p:spPr>
          <a:xfrm>
            <a:off x="1216152" y="2066544"/>
            <a:ext cx="219456" cy="219456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tl-date-0"/>
          <p:cNvSpPr txBox="1"/>
          <p:nvPr/>
        </p:nvSpPr>
        <p:spPr>
          <a:xfrm>
            <a:off x="548640" y="1536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2026/06/15</a:t>
            </a:r>
            <a:endParaRPr lang="en-US" sz="1400" dirty="0"/>
          </a:p>
        </p:txBody>
      </p:sp>
      <p:sp>
        <p:nvSpPr>
          <p:cNvPr id="10" name="tl-text-0"/>
          <p:cNvSpPr txBox="1"/>
          <p:nvPr/>
        </p:nvSpPr>
        <p:spPr>
          <a:xfrm>
            <a:off x="548640" y="245059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要件定義書 v2.0</a:t>
            </a:r>
            <a:endParaRPr lang="en-US" sz="1500" dirty="0"/>
          </a:p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機能と目的を決定</a:t>
            </a:r>
            <a:endParaRPr lang="en-US" sz="1500" dirty="0"/>
          </a:p>
        </p:txBody>
      </p:sp>
      <p:sp>
        <p:nvSpPr>
          <p:cNvPr id="11" name="tl-node-1"/>
          <p:cNvSpPr/>
          <p:nvPr/>
        </p:nvSpPr>
        <p:spPr>
          <a:xfrm>
            <a:off x="2852928" y="2066544"/>
            <a:ext cx="219456" cy="219456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tl-date-1"/>
          <p:cNvSpPr txBox="1"/>
          <p:nvPr/>
        </p:nvSpPr>
        <p:spPr>
          <a:xfrm>
            <a:off x="2185416" y="1536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2026/06/25</a:t>
            </a:r>
            <a:endParaRPr lang="en-US" sz="1400" dirty="0"/>
          </a:p>
        </p:txBody>
      </p:sp>
      <p:sp>
        <p:nvSpPr>
          <p:cNvPr id="13" name="tl-text-1"/>
          <p:cNvSpPr txBox="1"/>
          <p:nvPr/>
        </p:nvSpPr>
        <p:spPr>
          <a:xfrm>
            <a:off x="2185416" y="245059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基本設計書 v1.0</a:t>
            </a:r>
            <a:endParaRPr lang="en-US" sz="1500" dirty="0"/>
          </a:p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初版を作成</a:t>
            </a:r>
            <a:endParaRPr lang="en-US" sz="1500" dirty="0"/>
          </a:p>
        </p:txBody>
      </p:sp>
      <p:sp>
        <p:nvSpPr>
          <p:cNvPr id="14" name="tl-node-2"/>
          <p:cNvSpPr/>
          <p:nvPr/>
        </p:nvSpPr>
        <p:spPr>
          <a:xfrm>
            <a:off x="4489704" y="2066544"/>
            <a:ext cx="219456" cy="219456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tl-date-2"/>
          <p:cNvSpPr txBox="1"/>
          <p:nvPr/>
        </p:nvSpPr>
        <p:spPr>
          <a:xfrm>
            <a:off x="3822192" y="1536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2026/07/13</a:t>
            </a:r>
            <a:endParaRPr lang="en-US" sz="1400" dirty="0"/>
          </a:p>
        </p:txBody>
      </p:sp>
      <p:sp>
        <p:nvSpPr>
          <p:cNvPr id="16" name="tl-text-2"/>
          <p:cNvSpPr txBox="1"/>
          <p:nvPr/>
        </p:nvSpPr>
        <p:spPr>
          <a:xfrm>
            <a:off x="3822192" y="245059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v1.1〜v1.3</a:t>
            </a:r>
            <a:endParaRPr lang="en-US" sz="1500" dirty="0"/>
          </a:p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深掘り質問を追加</a:t>
            </a:r>
            <a:endParaRPr lang="en-US" sz="1500" dirty="0"/>
          </a:p>
        </p:txBody>
      </p:sp>
      <p:sp>
        <p:nvSpPr>
          <p:cNvPr id="17" name="tl-node-3"/>
          <p:cNvSpPr/>
          <p:nvPr/>
        </p:nvSpPr>
        <p:spPr>
          <a:xfrm>
            <a:off x="6126480" y="2066544"/>
            <a:ext cx="219456" cy="219456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8" name="tl-date-3"/>
          <p:cNvSpPr txBox="1"/>
          <p:nvPr/>
        </p:nvSpPr>
        <p:spPr>
          <a:xfrm>
            <a:off x="5458968" y="1536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2026/07/23</a:t>
            </a:r>
            <a:endParaRPr lang="en-US" sz="1400" dirty="0"/>
          </a:p>
        </p:txBody>
      </p:sp>
      <p:sp>
        <p:nvSpPr>
          <p:cNvPr id="19" name="tl-text-3"/>
          <p:cNvSpPr txBox="1"/>
          <p:nvPr/>
        </p:nvSpPr>
        <p:spPr>
          <a:xfrm>
            <a:off x="5458968" y="245059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v1.4</a:t>
            </a:r>
            <a:endParaRPr lang="en-US" sz="1500" dirty="0"/>
          </a:p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確認事項を確定</a:t>
            </a:r>
            <a:endParaRPr lang="en-US" sz="1500" dirty="0"/>
          </a:p>
        </p:txBody>
      </p:sp>
      <p:sp>
        <p:nvSpPr>
          <p:cNvPr id="20" name="tl-node-4"/>
          <p:cNvSpPr/>
          <p:nvPr/>
        </p:nvSpPr>
        <p:spPr>
          <a:xfrm>
            <a:off x="7763256" y="2066544"/>
            <a:ext cx="219456" cy="219456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" name="tl-date-4"/>
          <p:cNvSpPr txBox="1"/>
          <p:nvPr/>
        </p:nvSpPr>
        <p:spPr>
          <a:xfrm>
            <a:off x="7095744" y="1536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2" name="tl-text-4"/>
          <p:cNvSpPr txBox="1"/>
          <p:nvPr/>
        </p:nvSpPr>
        <p:spPr>
          <a:xfrm>
            <a:off x="7095744" y="245059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現場レビュー</a:t>
            </a:r>
            <a:endParaRPr lang="en-US" sz="1500" dirty="0"/>
          </a:p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v1.4へ指摘23件</a:t>
            </a:r>
            <a:endParaRPr lang="en-US" sz="1500" dirty="0"/>
          </a:p>
        </p:txBody>
      </p:sp>
      <p:sp>
        <p:nvSpPr>
          <p:cNvPr id="23" name="tl-node-5"/>
          <p:cNvSpPr/>
          <p:nvPr/>
        </p:nvSpPr>
        <p:spPr>
          <a:xfrm>
            <a:off x="9345168" y="2011680"/>
            <a:ext cx="329184" cy="329184"/>
          </a:xfrm>
          <a:prstGeom prst="ellipse">
            <a:avLst/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4" name="tl-date-5"/>
          <p:cNvSpPr txBox="1"/>
          <p:nvPr/>
        </p:nvSpPr>
        <p:spPr>
          <a:xfrm>
            <a:off x="8732520" y="1536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2026/09/07</a:t>
            </a:r>
            <a:endParaRPr lang="en-US" sz="1400" dirty="0"/>
          </a:p>
        </p:txBody>
      </p:sp>
      <p:sp>
        <p:nvSpPr>
          <p:cNvPr id="25" name="tl-text-5"/>
          <p:cNvSpPr txBox="1"/>
          <p:nvPr/>
        </p:nvSpPr>
        <p:spPr>
          <a:xfrm>
            <a:off x="8732520" y="245059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v1.5（確定版）</a:t>
            </a:r>
            <a:endParaRPr lang="en-US" sz="1500" dirty="0"/>
          </a:p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指摘を全件反映</a:t>
            </a:r>
            <a:endParaRPr lang="en-US" sz="1500" dirty="0"/>
          </a:p>
        </p:txBody>
      </p:sp>
      <p:sp>
        <p:nvSpPr>
          <p:cNvPr id="26" name="tl-node-6"/>
          <p:cNvSpPr/>
          <p:nvPr/>
        </p:nvSpPr>
        <p:spPr>
          <a:xfrm>
            <a:off x="11036808" y="2066544"/>
            <a:ext cx="219456" cy="21945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dash"/>
          </a:ln>
        </p:spPr>
      </p:sp>
      <p:sp>
        <p:nvSpPr>
          <p:cNvPr id="27" name="tl-date-6"/>
          <p:cNvSpPr txBox="1"/>
          <p:nvPr/>
        </p:nvSpPr>
        <p:spPr>
          <a:xfrm>
            <a:off x="10369296" y="1536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次工程</a:t>
            </a:r>
            <a:endParaRPr lang="en-US" sz="1300" dirty="0"/>
          </a:p>
        </p:txBody>
      </p:sp>
      <p:sp>
        <p:nvSpPr>
          <p:cNvPr id="28" name="tl-text-6"/>
          <p:cNvSpPr txBox="1"/>
          <p:nvPr/>
        </p:nvSpPr>
        <p:spPr>
          <a:xfrm>
            <a:off x="10369296" y="245059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2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環境構築</a:t>
            </a:r>
            <a:endParaRPr lang="en-US" sz="1500" dirty="0"/>
          </a:p>
          <a:p>
            <a:pPr algn="ctr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未着手</a:t>
            </a:r>
            <a:endParaRPr lang="en-US" sz="1500" dirty="0"/>
          </a:p>
        </p:txBody>
      </p:sp>
      <p:sp>
        <p:nvSpPr>
          <p:cNvPr id="29" name="stat-panel"/>
          <p:cNvSpPr/>
          <p:nvPr/>
        </p:nvSpPr>
        <p:spPr>
          <a:xfrm>
            <a:off x="548640" y="3520440"/>
            <a:ext cx="4572000" cy="2651760"/>
          </a:xfrm>
          <a:prstGeom prst="roundRect">
            <a:avLst>
              <a:gd name="adj" fmla="val 34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stat-23"/>
          <p:cNvSpPr txBox="1"/>
          <p:nvPr/>
        </p:nvSpPr>
        <p:spPr>
          <a:xfrm>
            <a:off x="822960" y="363016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Segoe UI Light" pitchFamily="34" charset="0"/>
                <a:ea typeface="Segoe UI Light" pitchFamily="34" charset="-128"/>
                <a:cs typeface="Segoe UI Light" pitchFamily="34" charset="-120"/>
              </a:rPr>
              <a:t>23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 / 23件　</a:t>
            </a:r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現場レビューの指摘を全件反映</a:t>
            </a:r>
            <a:endParaRPr lang="en-US" sz="4000" dirty="0"/>
          </a:p>
        </p:txBody>
      </p:sp>
      <p:sp>
        <p:nvSpPr>
          <p:cNvPr id="31" name="chg"/>
          <p:cNvSpPr txBox="1"/>
          <p:nvPr/>
        </p:nvSpPr>
        <p:spPr>
          <a:xfrm>
            <a:off x="822960" y="4389120"/>
            <a:ext cx="4114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ステータスを6段階化（アサイン中を新設）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管理者画面を2つ新設（担当割り当て・料金）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満足度評価をプランナー・アプリの2種類に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価格改定時の取り扱い4ルールを明文化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会話履歴をMarkdownで保存（T-15）</a:t>
            </a:r>
            <a:endParaRPr lang="en-US" sz="13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テスト観点20件を整理、図6点を最新化</a:t>
            </a:r>
            <a:endParaRPr lang="en-US" sz="1300" dirty="0"/>
          </a:p>
        </p:txBody>
      </p:sp>
      <p:sp>
        <p:nvSpPr>
          <p:cNvPr id="32" name="env-h"/>
          <p:cNvSpPr txBox="1"/>
          <p:nvPr/>
        </p:nvSpPr>
        <p:spPr>
          <a:xfrm>
            <a:off x="5394960" y="3520440"/>
            <a:ext cx="6245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環境構築で用意する環境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基本設計書 3-1・3-2 より</a:t>
            </a:r>
            <a:endParaRPr lang="en-US" sz="1800" dirty="0"/>
          </a:p>
        </p:txBody>
      </p:sp>
      <p:sp>
        <p:nvSpPr>
          <p:cNvPr id="33" name="env-0"/>
          <p:cNvSpPr/>
          <p:nvPr/>
        </p:nvSpPr>
        <p:spPr>
          <a:xfrm>
            <a:off x="5394960" y="4023360"/>
            <a:ext cx="3008376" cy="10058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env-t-0"/>
          <p:cNvSpPr txBox="1"/>
          <p:nvPr/>
        </p:nvSpPr>
        <p:spPr>
          <a:xfrm>
            <a:off x="5596128" y="4114800"/>
            <a:ext cx="2688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動作・利用環境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Windows 10・11（64bit）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Google Chrome</a:t>
            </a:r>
            <a:endParaRPr lang="en-US" sz="1300" dirty="0"/>
          </a:p>
        </p:txBody>
      </p:sp>
      <p:sp>
        <p:nvSpPr>
          <p:cNvPr id="35" name="env-1"/>
          <p:cNvSpPr/>
          <p:nvPr/>
        </p:nvSpPr>
        <p:spPr>
          <a:xfrm>
            <a:off x="8631936" y="4023360"/>
            <a:ext cx="3008376" cy="10058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6" name="env-t-1"/>
          <p:cNvSpPr txBox="1"/>
          <p:nvPr/>
        </p:nvSpPr>
        <p:spPr>
          <a:xfrm>
            <a:off x="8833104" y="4114800"/>
            <a:ext cx="2688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アプリケーション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Spring Boot（Java）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Bootstrap・Thymeleaf</a:t>
            </a:r>
            <a:endParaRPr lang="en-US" sz="1300" dirty="0"/>
          </a:p>
        </p:txBody>
      </p:sp>
      <p:sp>
        <p:nvSpPr>
          <p:cNvPr id="37" name="env-2"/>
          <p:cNvSpPr/>
          <p:nvPr/>
        </p:nvSpPr>
        <p:spPr>
          <a:xfrm>
            <a:off x="5394960" y="5166360"/>
            <a:ext cx="3008376" cy="10058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8" name="env-t-2"/>
          <p:cNvSpPr txBox="1"/>
          <p:nvPr/>
        </p:nvSpPr>
        <p:spPr>
          <a:xfrm>
            <a:off x="5596128" y="5257800"/>
            <a:ext cx="2688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AWS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EC2・RDS（Oracle）・S3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SES・CloudWatch Logs</a:t>
            </a:r>
            <a:endParaRPr lang="en-US" sz="1300" dirty="0"/>
          </a:p>
        </p:txBody>
      </p:sp>
      <p:sp>
        <p:nvSpPr>
          <p:cNvPr id="39" name="env-3"/>
          <p:cNvSpPr/>
          <p:nvPr/>
        </p:nvSpPr>
        <p:spPr>
          <a:xfrm>
            <a:off x="8631936" y="5166360"/>
            <a:ext cx="3008376" cy="10058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0" name="env-t-3"/>
          <p:cNvSpPr txBox="1"/>
          <p:nvPr/>
        </p:nvSpPr>
        <p:spPr>
          <a:xfrm>
            <a:off x="8833104" y="5257800"/>
            <a:ext cx="2688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Claude API（Anthropic）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SpringからHTTPで呼び出し</a:t>
            </a:r>
            <a:endParaRPr lang="en-US" sz="1300" dirty="0"/>
          </a:p>
        </p:txBody>
      </p:sp>
      <p:sp>
        <p:nvSpPr>
          <p:cNvPr id="41" name="source"/>
          <p:cNvSpPr txBox="1"/>
          <p:nvPr/>
        </p:nvSpPr>
        <p:spPr>
          <a:xfrm>
            <a:off x="54864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出典：基本設計書 v1.5 改訂履歴・3-1・3-2、変更内容まとめ（2026/09/07）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-0"/>
          <p:cNvSpPr/>
          <p:nvPr/>
        </p:nvSpPr>
        <p:spPr>
          <a:xfrm>
            <a:off x="54864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</p:sp>
      <p:sp>
        <p:nvSpPr>
          <p:cNvPr id="3" name="ring-1"/>
          <p:cNvSpPr/>
          <p:nvPr/>
        </p:nvSpPr>
        <p:spPr>
          <a:xfrm>
            <a:off x="654710" y="393192"/>
            <a:ext cx="182880" cy="182880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</p:sp>
      <p:sp>
        <p:nvSpPr>
          <p:cNvPr id="4" name="eyebrow"/>
          <p:cNvSpPr txBox="1"/>
          <p:nvPr/>
        </p:nvSpPr>
        <p:spPr>
          <a:xfrm>
            <a:off x="896112" y="329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8"/>
                <a:cs typeface="Segoe UI Semibold" pitchFamily="34" charset="-120"/>
              </a:rPr>
              <a:t>NOTES</a:t>
            </a:r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システムの対象範囲と限界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71323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扱うのはプランの合意まで、予約・決済は範囲外</a:t>
            </a:r>
            <a:endParaRPr lang="en-US" sz="2800" dirty="0"/>
          </a:p>
        </p:txBody>
      </p:sp>
      <p:sp>
        <p:nvSpPr>
          <p:cNvPr id="6" name="scope-0"/>
          <p:cNvSpPr/>
          <p:nvPr/>
        </p:nvSpPr>
        <p:spPr>
          <a:xfrm>
            <a:off x="548640" y="1627632"/>
            <a:ext cx="5486400" cy="2286000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ring-0"/>
          <p:cNvSpPr/>
          <p:nvPr/>
        </p:nvSpPr>
        <p:spPr>
          <a:xfrm>
            <a:off x="822960" y="1828800"/>
            <a:ext cx="219456" cy="219456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</p:sp>
      <p:sp>
        <p:nvSpPr>
          <p:cNvPr id="8" name="ring-1"/>
          <p:cNvSpPr/>
          <p:nvPr/>
        </p:nvSpPr>
        <p:spPr>
          <a:xfrm>
            <a:off x="950244" y="1828800"/>
            <a:ext cx="219456" cy="219456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</p:sp>
      <p:sp>
        <p:nvSpPr>
          <p:cNvPr id="9" name="scope-h-0"/>
          <p:cNvSpPr txBox="1"/>
          <p:nvPr/>
        </p:nvSpPr>
        <p:spPr>
          <a:xfrm>
            <a:off x="1280160" y="173736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対象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このシステムで扱う</a:t>
            </a:r>
            <a:endParaRPr lang="en-US" sz="1900" dirty="0"/>
          </a:p>
        </p:txBody>
      </p:sp>
      <p:sp>
        <p:nvSpPr>
          <p:cNvPr id="10" name="scope-b-0"/>
          <p:cNvSpPr txBox="1"/>
          <p:nvPr/>
        </p:nvSpPr>
        <p:spPr>
          <a:xfrm>
            <a:off x="868680" y="2267712"/>
            <a:ext cx="4937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AIを通じた顧客へのプラン提案</a:t>
            </a:r>
            <a:endParaRPr lang="en-US" sz="15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リアルタイム料金シミュレーション</a:t>
            </a:r>
            <a:endParaRPr lang="en-US" sz="15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顧客とプランナーのチャットでの調整</a:t>
            </a:r>
            <a:endParaRPr lang="en-US" sz="15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プランの最終合意まで</a:t>
            </a:r>
            <a:endParaRPr lang="en-US" sz="15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合意後の満足度評価（2種類）</a:t>
            </a:r>
            <a:endParaRPr lang="en-US" sz="1500" dirty="0"/>
          </a:p>
        </p:txBody>
      </p:sp>
      <p:sp>
        <p:nvSpPr>
          <p:cNvPr id="11" name="scope-1"/>
          <p:cNvSpPr/>
          <p:nvPr/>
        </p:nvSpPr>
        <p:spPr>
          <a:xfrm>
            <a:off x="6263640" y="1627632"/>
            <a:ext cx="5376672" cy="2286000"/>
          </a:xfrm>
          <a:prstGeom prst="roundRect">
            <a:avLst>
              <a:gd name="adj" fmla="val 4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ring-0"/>
          <p:cNvSpPr/>
          <p:nvPr/>
        </p:nvSpPr>
        <p:spPr>
          <a:xfrm>
            <a:off x="6537960" y="1828800"/>
            <a:ext cx="219456" cy="219456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</p:sp>
      <p:sp>
        <p:nvSpPr>
          <p:cNvPr id="13" name="ring-1"/>
          <p:cNvSpPr/>
          <p:nvPr/>
        </p:nvSpPr>
        <p:spPr>
          <a:xfrm>
            <a:off x="6665244" y="1828800"/>
            <a:ext cx="219456" cy="219456"/>
          </a:xfrm>
          <a:prstGeom prst="ellipse">
            <a:avLst/>
          </a:prstGeom>
          <a:ln w="12700">
            <a:solidFill>
              <a:schemeClr val="accent2"/>
            </a:solidFill>
            <a:prstDash val="solid"/>
          </a:ln>
        </p:spPr>
      </p:sp>
      <p:sp>
        <p:nvSpPr>
          <p:cNvPr id="14" name="scope-h-1"/>
          <p:cNvSpPr txBox="1"/>
          <p:nvPr/>
        </p:nvSpPr>
        <p:spPr>
          <a:xfrm>
            <a:off x="6995160" y="1737360"/>
            <a:ext cx="4462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対象外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　このシステムでは扱わない</a:t>
            </a:r>
            <a:endParaRPr lang="en-US" sz="1900" dirty="0"/>
          </a:p>
        </p:txBody>
      </p:sp>
      <p:sp>
        <p:nvSpPr>
          <p:cNvPr id="15" name="scope-b-1"/>
          <p:cNvSpPr txBox="1"/>
          <p:nvPr/>
        </p:nvSpPr>
        <p:spPr>
          <a:xfrm>
            <a:off x="6583680" y="2267712"/>
            <a:ext cx="482803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プラン合意後の手続き・予約業務</a:t>
            </a:r>
            <a:endParaRPr lang="en-US" sz="15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決済・支払い処理</a:t>
            </a:r>
            <a:endParaRPr lang="en-US" sz="1500" dirty="0"/>
          </a:p>
          <a:p>
            <a:pPr marL="165100" indent="-1651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サービス提供後のフォロー業務</a:t>
            </a:r>
            <a:endParaRPr lang="en-US" sz="1500" dirty="0"/>
          </a:p>
        </p:txBody>
      </p:sp>
      <p:sp>
        <p:nvSpPr>
          <p:cNvPr id="16" name="limit-h"/>
          <p:cNvSpPr txBox="1"/>
          <p:nvPr/>
        </p:nvSpPr>
        <p:spPr>
          <a:xfrm>
            <a:off x="548640" y="40690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BIZ UDPMincho" pitchFamily="34" charset="0"/>
                <a:ea typeface="BIZ UDPMincho" pitchFamily="34" charset="-128"/>
                <a:cs typeface="BIZ UDPMincho" pitchFamily="34" charset="-120"/>
              </a:rPr>
              <a:t>前提となる限界</a:t>
            </a:r>
            <a:endParaRPr lang="en-US" sz="1700" dirty="0"/>
          </a:p>
        </p:txBody>
      </p:sp>
      <p:sp>
        <p:nvSpPr>
          <p:cNvPr id="17" name="limit-0"/>
          <p:cNvSpPr/>
          <p:nvPr/>
        </p:nvSpPr>
        <p:spPr>
          <a:xfrm>
            <a:off x="548640" y="4526280"/>
            <a:ext cx="3544824" cy="16459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limit-t-0"/>
          <p:cNvSpPr txBox="1"/>
          <p:nvPr/>
        </p:nvSpPr>
        <p:spPr>
          <a:xfrm>
            <a:off x="777240" y="4663440"/>
            <a:ext cx="3179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金額の扱い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扱うのは概算の「予定金額」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契約金額は予約・決済業務で確定</a:t>
            </a:r>
            <a:endParaRPr lang="en-US" sz="1500" dirty="0"/>
          </a:p>
        </p:txBody>
      </p:sp>
      <p:sp>
        <p:nvSpPr>
          <p:cNvPr id="19" name="limit-1"/>
          <p:cNvSpPr/>
          <p:nvPr/>
        </p:nvSpPr>
        <p:spPr>
          <a:xfrm>
            <a:off x="4322064" y="4526280"/>
            <a:ext cx="3544824" cy="16459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limit-t-1"/>
          <p:cNvSpPr txBox="1"/>
          <p:nvPr/>
        </p:nvSpPr>
        <p:spPr>
          <a:xfrm>
            <a:off x="4550664" y="4663440"/>
            <a:ext cx="3179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AIの位置づけ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AIのプランは叩き台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最終提案はプランナーが責任を持つ</a:t>
            </a:r>
            <a:endParaRPr lang="en-US" sz="1500" dirty="0"/>
          </a:p>
        </p:txBody>
      </p:sp>
      <p:sp>
        <p:nvSpPr>
          <p:cNvPr id="21" name="limit-2"/>
          <p:cNvSpPr/>
          <p:nvPr/>
        </p:nvSpPr>
        <p:spPr>
          <a:xfrm>
            <a:off x="8095488" y="4526280"/>
            <a:ext cx="3544824" cy="16459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limit-t-2"/>
          <p:cNvSpPr txBox="1"/>
          <p:nvPr/>
        </p:nvSpPr>
        <p:spPr>
          <a:xfrm>
            <a:off x="8324088" y="4663440"/>
            <a:ext cx="3179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チャットの応答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24時間対応はAI部分のみ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プランナーは即時応答を保証しない</a:t>
            </a:r>
            <a:endParaRPr lang="en-US" sz="1500" dirty="0"/>
          </a:p>
        </p:txBody>
      </p:sp>
      <p:sp>
        <p:nvSpPr>
          <p:cNvPr id="23" name="source"/>
          <p:cNvSpPr txBox="1"/>
          <p:nvPr/>
        </p:nvSpPr>
        <p:spPr>
          <a:xfrm>
            <a:off x="54864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BIZ UDPGothic" pitchFamily="34" charset="0"/>
                <a:ea typeface="BIZ UDPGothic" pitchFamily="34" charset="-128"/>
                <a:cs typeface="BIZ UDPGothic" pitchFamily="34" charset="-120"/>
              </a:rPr>
              <a:t>出典：基本設計書 v1.5（P2C：Creepy Code）1-2・2-3・3-3・6-4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vy Champagne">
  <a:themeElements>
    <a:clrScheme name="Navy Champagne">
      <a:dk1>
        <a:srgbClr val="1E2A45"/>
      </a:dk1>
      <a:lt1>
        <a:srgbClr val="FFFFFF"/>
      </a:lt1>
      <a:dk2>
        <a:srgbClr val="4A556E"/>
      </a:dk2>
      <a:lt2>
        <a:srgbClr val="E9DCBC"/>
      </a:lt2>
      <a:accent1>
        <a:srgbClr val="1E2A45"/>
      </a:accent1>
      <a:accent2>
        <a:srgbClr val="B89A5E"/>
      </a:accent2>
      <a:accent3>
        <a:srgbClr val="7A6030"/>
      </a:accent3>
      <a:accent4>
        <a:srgbClr val="EDF0F5"/>
      </a:accent4>
      <a:accent5>
        <a:srgbClr val="C9CFDB"/>
      </a:accent5>
      <a:accent6>
        <a:srgbClr val="F7F2E7"/>
      </a:accent6>
      <a:hlink>
        <a:srgbClr val="1E2A45"/>
      </a:hlink>
      <a:folHlink>
        <a:srgbClr val="4A556E"/>
      </a:folHlink>
    </a:clrScheme>
    <a:fontScheme name="Navy Champagne">
      <a:majorFont>
        <a:latin typeface="BIZ UDPMincho"/>
        <a:ea typeface="BIZ UDPMinch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BIZ UDP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AIブライダルプランニング支援システム 説明資料</dc:title>
  <dc:subject>PptxGenJS Presentation</dc:subject>
  <dc:creator>P2C：Creepy Code</dc:creator>
  <cp:lastModifiedBy>P2C：Creepy Code</cp:lastModifiedBy>
  <cp:revision>1</cp:revision>
  <dcterms:created xsi:type="dcterms:W3CDTF">2026-10-06T05:44:16Z</dcterms:created>
  <dcterms:modified xsi:type="dcterms:W3CDTF">2026-10-06T05:44:16Z</dcterms:modified>
</cp:coreProperties>
</file>
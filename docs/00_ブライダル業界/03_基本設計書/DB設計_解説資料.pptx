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基本設計書 ver 1.4 の第7章（データベース設計）を、DB初学者でも追えるように図とデータの流れで再構成した資料です。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12テーブルのうち、PLANSは4本のFKを持ち、MESSAGES・PLAN_OPTIONS・PLANNER_EVALUATIONS・PLAN_REVISIONSから参照される。構造で迷ったらここを起点に読むと早い。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5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0F4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480560"/>
            <a:ext cx="2926080" cy="2926080"/>
          </a:xfrm>
          <a:prstGeom prst="ellipse">
            <a:avLst/>
          </a:prstGeom>
          <a:solidFill>
            <a:srgbClr val="0F4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402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DB設計を、絵で読み解く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1463040" cy="0"/>
          </a:xfrm>
          <a:prstGeom prst="line">
            <a:avLst/>
          </a:prstGeom>
          <a:noFill/>
          <a:ln w="38100">
            <a:solidFill>
              <a:srgbClr val="4A9D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7033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8EEF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AIブライダルプランニング支援システム ／ 基本設計書 ver 1.4 「7. データベース設計」の解説資料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2026年7月27日 ／ P2C：Creepy Code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3つのパートで、DB設計の全体像がつかめる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この資料は基本設計書 ver 1.4 の第7章を、読む順番から組み直しています。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11247120" cy="1298448"/>
          </a:xfrm>
          <a:prstGeom prst="roundRect">
            <a:avLst>
              <a:gd name="adj" fmla="val 6338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13432"/>
            <a:ext cx="603504" cy="603504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134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16712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Part 1　基礎とER図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00200" y="2642616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PK・FK・データ型の読み方から入り、12テーブルの関係を3枚の図で見る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966960" y="218541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p.3〜9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447288"/>
            <a:ext cx="11247120" cy="1298448"/>
          </a:xfrm>
          <a:prstGeom prst="roundRect">
            <a:avLst>
              <a:gd name="adj" fmla="val 6338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794760"/>
            <a:ext cx="603504" cy="603504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947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64845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Part 2　データの流れ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600200" y="4123944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顧客が画面を操作すると、どのテーブルの何列に書き込まれるかを時系列で追う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966960" y="366674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p.10〜19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928616"/>
            <a:ext cx="11247120" cy="1298448"/>
          </a:xfrm>
          <a:prstGeom prst="roundRect">
            <a:avLst>
              <a:gd name="adj" fmla="val 6338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276088"/>
            <a:ext cx="603504" cy="603504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2760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00200" y="512978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Part 3　テーブル詳細と設計判断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600200" y="560527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12テーブルの全カラムと、なぜそう設計したかの理由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66960" y="51480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p.20〜31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図中のテーブル名は基本設計書の表記（大文字）に合わせています。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まず4つの言葉だけ覚えれば図が読める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設計書の「制約」欄に出てくる記号です。ここだけ押さえれば以降は迷いません。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5303520" cy="20574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12848"/>
            <a:ext cx="640080" cy="64008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2267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主キー（Primary Key）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行を1つに特定する番号。重複もNULLも許されない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547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例：USERS.USER_ID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920240"/>
            <a:ext cx="5303520" cy="20574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2212848"/>
            <a:ext cx="640080" cy="64008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2128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89520" y="22677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外部キー（Foreign Key）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766560" y="285292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別のテーブルの行を指す番号。テーブル同士のつながりの正体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35478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例：PLANS.USER_ID → USERS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5303520" cy="20574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4407408"/>
            <a:ext cx="640080" cy="64008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07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NN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645920" y="4462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NOT NULL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2960" y="504748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空を許さない列。必ず値が入る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5742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例：USERS.EMAIL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303520" cy="2057400"/>
          </a:xfrm>
          <a:prstGeom prst="roundRect">
            <a:avLst>
              <a:gd name="adj" fmla="val 4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0" y="4407408"/>
            <a:ext cx="640080" cy="64008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4407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UQ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589520" y="4462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UNIQUE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766560" y="504748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同じ値を2行が持てない列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6560" y="5742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例：USERS.EMAIL（重複登録を防ぐ）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データ型は「何を入れる箱か」の宣言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この設計で使われている型は6種類だけです。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11247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108960"/>
                <a:gridCol w="3200400"/>
                <a:gridCol w="2651760"/>
              </a:tblGrid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データ型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使いどころ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この設計での例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数値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ID・金額・人数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USER_ID / BUDGET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VARCHAR2(n)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可変長の文字列（最大n文字）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長さの上限が読める文字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EMAIL / NAME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CHAR(1)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固定長1文字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Y か N の2択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IS_CONFIRMED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DATE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日付のみ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時刻が要らない日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DESIRED_DATE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日付＋時刻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記録が起きた瞬間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CREATED_AT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長文テキスト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上限が読めない文章やJSON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AI_DRAFT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98932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98932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VARCHAR2 と CLOB の使い分けが判断点です。上限を決められるものは VARCHAR2、AIの生成文のように長さが読めないものは CLOB にしています。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12テーブルは5つのかたまりに分けられる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ばらばらに覚えず、役割ごとのグループで捉えると全体像が早く入ります。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084832"/>
            <a:ext cx="457200" cy="45720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人と認証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RESET_TOKENS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675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誰がログインしているかを持つ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1874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07992" y="2084832"/>
            <a:ext cx="457200" cy="45720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7492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ヒアリング〜プラン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ONBOARDING_ANSWERS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PLAN_OPTIONS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26280" y="3675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このシステムの背骨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874520"/>
            <a:ext cx="3520440" cy="2148840"/>
          </a:xfrm>
          <a:prstGeom prst="roundRect">
            <a:avLst>
              <a:gd name="adj" fmla="val 383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02752" y="2084832"/>
            <a:ext cx="457200" cy="45720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2752" y="2084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6968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やりとり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2697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MESSAGES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FILES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21040" y="3675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顧客とプランナーの会話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251960"/>
            <a:ext cx="5577840" cy="1874520"/>
          </a:xfrm>
          <a:prstGeom prst="roundRect">
            <a:avLst>
              <a:gd name="adj" fmla="val 439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462272"/>
            <a:ext cx="457200" cy="45720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80160" y="44805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選択肢・価格マスタ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1520" y="5074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ARCHETYPE_MASTER ／ VISUAL_IMAGES ／ PRICE_MASTER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" y="57424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画面に出す選択肢と値段の元データ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42519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65392" y="4462272"/>
            <a:ext cx="457200" cy="45720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132320" y="448056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記録・評価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583680" y="5074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PLANNER_EVALUATIONS ／ PLAN_REVISIONS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0" y="57424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品質改善のために貯めるデータ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FKは必ず「多い側」のテーブルに置く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ER図を読む近道です。線の向きより、どちらにFKがあるかを見ます。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1965960"/>
          </a:xfrm>
          <a:prstGeom prst="roundRect">
            <a:avLst>
              <a:gd name="adj" fmla="val 4186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1対多（ほとんどの関係がこれ）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165E83"/>
          </a:solidFill>
          <a:ln w="15875">
            <a:solidFill>
              <a:srgbClr val="165E8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383280" y="3081528"/>
            <a:ext cx="137160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520440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27614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92040" y="269748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6974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543800" y="2697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1人の顧客は複数のプランを持てる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だからFKは PLANS.USER_ID 側にある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1247120" cy="1965960"/>
          </a:xfrm>
          <a:prstGeom prst="roundRect">
            <a:avLst>
              <a:gd name="adj" fmla="val 4186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1対1（この設計では1か所だけ）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800" y="4937760"/>
            <a:ext cx="28346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37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ONBOARDING_ANSWERS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11880" y="5321808"/>
            <a:ext cx="118872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5001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89120" y="5001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92040" y="4937760"/>
            <a:ext cx="23774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49377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543800" y="4937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1回のヒアリング回答にプランは1つ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PLANS.ANSWER_ID で結ぶ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グループ同士は4本の線でつながる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まず粒度を粗くして、どのかたまりが何を参照するかだけを見ます。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  人と認証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29718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044952"/>
            <a:ext cx="29718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449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RESET_TOKENS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920240"/>
            <a:ext cx="3566160" cy="2011680"/>
          </a:xfrm>
          <a:prstGeom prst="roundRect">
            <a:avLst>
              <a:gd name="adj" fmla="val 4091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1214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  ヒアリング〜プラン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572000" y="2606040"/>
            <a:ext cx="30175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606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ONBOARDING_ANSWERS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044952"/>
            <a:ext cx="30175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3044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0" y="3483864"/>
            <a:ext cx="30175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348386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PLAN_OPTIONS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83880" y="1920240"/>
            <a:ext cx="3520440" cy="2011680"/>
          </a:xfrm>
          <a:prstGeom prst="roundRect">
            <a:avLst>
              <a:gd name="adj" fmla="val 4091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1214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  やりとり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458200" y="2606040"/>
            <a:ext cx="29718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0" y="2606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MESSAGES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458200" y="3044952"/>
            <a:ext cx="29718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30449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FILES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5577840" cy="2011680"/>
          </a:xfrm>
          <a:prstGeom prst="roundRect">
            <a:avLst>
              <a:gd name="adj" fmla="val 4091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325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  選択肢・価格マスタ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31520" y="4800600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800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ARCHETYPE_MASTER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5221224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221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VISUAL_IMAGES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31520" y="5641848"/>
            <a:ext cx="502920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56418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PRICE_MASTER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309360" y="4160520"/>
            <a:ext cx="5394960" cy="2011680"/>
          </a:xfrm>
          <a:prstGeom prst="roundRect">
            <a:avLst>
              <a:gd name="adj" fmla="val 4091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0" y="4325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  記録・評価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6583680" y="4800600"/>
            <a:ext cx="48463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4800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PLANNER_EVALUATIONS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583680" y="5221224"/>
            <a:ext cx="484632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522122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PLAN_REVISIONS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977640" y="2926080"/>
            <a:ext cx="32004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863840" y="2926080"/>
            <a:ext cx="32004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108960" y="3931920"/>
            <a:ext cx="0" cy="201168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8412480" y="3931920"/>
            <a:ext cx="0" cy="201168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3291840" y="3895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顧客・担当者を参照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95360" y="38953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プラン・利用者を参照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6291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実際のFKは次の2枚で列名まで確認します。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中核はPLANSを挟んだ一本道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このシステムのデータは、左から右へ「誰が→何を答えて→どんなプランで→いくらか」と流れます。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4884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0358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USER_ID (PK)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34340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34340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ONBOARDING_ANSWERS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52303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ANSWER_ID (PK)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3063240"/>
            <a:ext cx="2834640" cy="1143000"/>
          </a:xfrm>
          <a:prstGeom prst="roundRect">
            <a:avLst>
              <a:gd name="adj" fmla="val 5600"/>
            </a:avLst>
          </a:prstGeom>
          <a:solidFill>
            <a:srgbClr val="165E83"/>
          </a:solidFill>
          <a:ln w="15875">
            <a:solidFill>
              <a:srgbClr val="165E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0632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17720" y="42519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PLAN_ID (PK) ／ USER_ID (FK)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PLANNER_ID (FK) ／ ANSWER_ID (FK)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14884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21488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PLAN_OPTIONS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52560" y="3035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PLAN_ID (FK) ／ ITEM_ID (FK)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052560" y="457200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45720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PRICE_MASTER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52560" y="5458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ITEM_ID (PK)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37560" y="2606040"/>
            <a:ext cx="1188720" cy="100584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3337560" y="3794760"/>
            <a:ext cx="1188720" cy="100584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7543800" y="2606040"/>
            <a:ext cx="1371600" cy="100584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10378440" y="3977640"/>
            <a:ext cx="0" cy="54864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38328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8328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2668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1対多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1対多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6035040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603504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USERSは1つのテーブルで顧客とプランナーの両方を持つため、PLANSからは USER_ID（顧客）と PLANNER_ID（担当）の2本のFKが同じUSERSへ伸びます。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周辺7テーブルは4つの小さな束にすぎない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中核が分かれば、残りは「どこにぶら下がるか」だけの話になります。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8366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  認証の使い捨てトークン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2340864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E8EEF2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408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463040" y="2743200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743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RESET_TOKENS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298448" y="2688336"/>
            <a:ext cx="118872" cy="0"/>
          </a:xfrm>
          <a:prstGeom prst="line">
            <a:avLst/>
          </a:prstGeom>
          <a:noFill/>
          <a:ln w="1524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77240" y="35478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申請ごとに1行。使うと USED_AT が埋まる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73736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88366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B  会話と添付ファイル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583680" y="2340864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E8EEF2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3408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269480" y="2743200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2743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MESSAGES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04888" y="2688336"/>
            <a:ext cx="118872" cy="0"/>
          </a:xfrm>
          <a:prstGeom prst="line">
            <a:avLst/>
          </a:prstGeom>
          <a:noFill/>
          <a:ln w="1524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55280" y="3145536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31455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FILES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90688" y="3090672"/>
            <a:ext cx="118872" cy="0"/>
          </a:xfrm>
          <a:prstGeom prst="line">
            <a:avLst/>
          </a:prstGeom>
          <a:noFill/>
          <a:ln w="1524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583680" y="35478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ファイルはメッセージにぶら下がる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21538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C  品質の記録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77240" y="4672584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E8EEF2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6725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463040" y="5074920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08760" y="5074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PLANNER_EVALUATIONS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298448" y="5020056"/>
            <a:ext cx="118872" cy="0"/>
          </a:xfrm>
          <a:prstGeom prst="line">
            <a:avLst/>
          </a:prstGeom>
          <a:noFill/>
          <a:ln w="1524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463040" y="5477256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08760" y="54772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PLAN_REVISIONS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298448" y="5422392"/>
            <a:ext cx="118872" cy="0"/>
          </a:xfrm>
          <a:prstGeom prst="line">
            <a:avLst/>
          </a:prstGeom>
          <a:noFill/>
          <a:ln w="1524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777240" y="5879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評価と修正差分はプラン単位で貯まる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06908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421538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  画面に出す選択肢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6583680" y="4672584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E8EEF2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46725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ARCHETYPE_MASTER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83680" y="5074920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E8EEF2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5074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VISUAL_IMAGES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19088" y="5020056"/>
            <a:ext cx="118872" cy="0"/>
          </a:xfrm>
          <a:prstGeom prst="line">
            <a:avLst/>
          </a:prstGeom>
          <a:noFill/>
          <a:ln w="1524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7269480" y="5477256"/>
            <a:ext cx="3017520" cy="347472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54772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ONBOARDING_ANSWERS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104888" y="5422392"/>
            <a:ext cx="118872" cy="0"/>
          </a:xfrm>
          <a:prstGeom prst="line">
            <a:avLst/>
          </a:prstGeom>
          <a:noFill/>
          <a:ln w="1524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6583680" y="58795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マスタを参照して回答が作られる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5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-1645920" y="4023360"/>
            <a:ext cx="4206240" cy="4206240"/>
          </a:xfrm>
          <a:prstGeom prst="ellipse">
            <a:avLst/>
          </a:prstGeom>
          <a:solidFill>
            <a:srgbClr val="0F4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286000"/>
            <a:ext cx="914400" cy="91440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194560" y="2240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データの流れ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19456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8EEF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画面を操作すると、どのテーブルの何列に書き込まれるのか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19456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p.11〜19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画面の操作は、必ずどこかの列に着地する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左が顧客・プランナーが触る画面、右が書き込まれるテーブルです。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4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75104"/>
            <a:ext cx="365760" cy="36576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975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8745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P-02 / P-03　会員登録・ログイン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06440" y="18745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18745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 ／ RESET_TOKENS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58368" y="2615184"/>
            <a:ext cx="365760" cy="36576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15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146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P-06〜P-10　事前ヒアリングとAI深掘り質問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06440" y="25146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25146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ONBOARDING_ANSWERS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4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255264"/>
            <a:ext cx="365760" cy="36576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255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1546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P-11　AIがプラン雛形を生成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06440" y="315468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0" y="315468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PLANS（AI_DRAFT・VALUE_SUMMARY）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" y="3895344"/>
            <a:ext cx="365760" cy="36576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37947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P-13　料金シミュレーション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06440" y="37947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379476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PLAN_OPTIONS ← PRICE_MASTER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7200" y="443484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4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" y="4535424"/>
            <a:ext cx="365760" cy="36576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535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443484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P-16　プランナーが詳細プランを編集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806440" y="44348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400800" y="44348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PLAN_REVISIONS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8368" y="5175504"/>
            <a:ext cx="365760" cy="36576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5175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234440" y="50749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P-14 / P-17　チャットで調整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06440" y="507492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400800" y="507492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MESSAGES ／ FILES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7200" y="5715000"/>
            <a:ext cx="11247120" cy="566928"/>
          </a:xfrm>
          <a:prstGeom prst="roundRect">
            <a:avLst>
              <a:gd name="adj" fmla="val 8065"/>
            </a:avLst>
          </a:prstGeom>
          <a:solidFill>
            <a:srgbClr val="F4F8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" y="5815584"/>
            <a:ext cx="365760" cy="36576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" y="5815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234440" y="571500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P-21　合意後に満足度を回答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806440" y="571500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400800" y="57150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PLANNER_EVALUATIONS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登録した瞬間、USERSに1行増える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パスワードは元の文字列のままではどこにも残りません。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画面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P-02 会員登録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P-03 ログイン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P-04・P-05 パスワード再設定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977640" y="3566160"/>
            <a:ext cx="36576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484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起きること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09160" y="27432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入力されたパスワードを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BCryptでハッシュ化</a:t>
            </a:r>
            <a:endParaRPr lang="en-US" sz="15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メール重複はエラーにする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0" y="3566160"/>
            <a:ext cx="36576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412480" y="1965960"/>
            <a:ext cx="3429000" cy="3246120"/>
          </a:xfrm>
          <a:prstGeom prst="roundRect">
            <a:avLst>
              <a:gd name="adj" fmla="val 2535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0" y="21945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保存される列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0" y="274320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　EMAIL / PASSWORD_HASH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　NAME / ROLE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　CREATED_AT / UPDATED_AT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RESET_TOKENS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　TOKEN / EXPIRES_AT</a:t>
            </a:r>
            <a:endParaRPr lang="en-US" sz="1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　USED_AT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48640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4864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RESET_TOKENS は USED_AT に日時が入った時点で使用済みになります。列を1つ足すだけで「使い捨てURL」を表現しています。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Step1〜4と深掘り質問は、1行にまとまる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5画面ぶんの回答が ONBOARDING_ANSWERS の1レコードに収まります。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P-06　Step1 アーキタイプ選択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09160" y="1920240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0" y="192024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ARCHETYPE_ID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95360" y="19202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ARCHETYPE_MASTER を参照するFK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61488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61488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P-07　Step2 ビジュアル選択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761488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303520" y="276148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VISUAL_SELECTIONS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95360" y="276148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選んだ画像IDのリスト（JSON）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02736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602736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P-08　Step3 基本情報入力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9160" y="3602736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03520" y="3602736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DESIRED_DATE / BUDGET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0" y="360273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未定ならNULLのまま進める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43984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443984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P-09　Step4 タグ選択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9160" y="4443984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303520" y="444398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UNDECIDED_TAGS / DECIDED_TAGS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95360" y="444398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カンマ区切りの文字列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285232"/>
            <a:ext cx="11247120" cy="749808"/>
          </a:xfrm>
          <a:prstGeom prst="roundRect">
            <a:avLst>
              <a:gd name="adj" fmla="val 10976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5285232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P-10　AI深掘り質問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9160" y="5285232"/>
            <a:ext cx="457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→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303520" y="528523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DEEPDIVE_QA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95360" y="528523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質問と回答をまとめてJSONで保存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網掛けの行が ver 1.4 で追加された列です。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AIの出力は、PLANSの2つの列に入る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Claude APIが返したテキストの置き場所が、あらかじめ決めてあります。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651760"/>
            <a:ext cx="292608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65176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ONBOARDING_ANSWERS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ヒアリングと深掘りの回答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3154680"/>
            <a:ext cx="77724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4840" y="2651760"/>
            <a:ext cx="2377440" cy="1005840"/>
          </a:xfrm>
          <a:prstGeom prst="roundRect">
            <a:avLst>
              <a:gd name="adj" fmla="val 6364"/>
            </a:avLst>
          </a:prstGeom>
          <a:solidFill>
            <a:srgbClr val="165E83"/>
          </a:solidFill>
          <a:ln w="15875">
            <a:solidFill>
              <a:srgbClr val="165E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6517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Claude API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40" y="37033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30秒以内に応答がなければ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「やり直す」を表示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3154680"/>
            <a:ext cx="77724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863840" y="2240280"/>
            <a:ext cx="3840480" cy="1828800"/>
          </a:xfrm>
          <a:prstGeom prst="roundRect">
            <a:avLst>
              <a:gd name="adj" fmla="val 4500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2377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138160" y="28803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AI_DRAFT　プラン雛形の本文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VALUE_SUMMARY　価値観の要点</a:t>
            </a:r>
            <a:endParaRPr lang="en-US" sz="150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STATUS　CREATING に更新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11247120" cy="1417320"/>
          </a:xfrm>
          <a:prstGeom prst="roundRect">
            <a:avLst>
              <a:gd name="adj" fmla="val 5806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なぜCLOBなのか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AIが返す文章は長さが読めないため、VARCHAR2の上限を決められない。上限を決めて溢れるより、CLOBで受けて画面側で表示を制御する。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金額は参照ではなく、コピーで守る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マスタの価格を後から変えても、過去のプランの金額は動きません。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92608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860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PRICE_MASTER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BASE_PRICE　管理者が更新する定価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743200"/>
            <a:ext cx="100584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429000" y="2148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追加時点の値をコピー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2286000"/>
            <a:ext cx="3108960" cy="914400"/>
          </a:xfrm>
          <a:prstGeom prst="roundRect">
            <a:avLst>
              <a:gd name="adj" fmla="val 7000"/>
            </a:avLst>
          </a:prstGeom>
          <a:solidFill>
            <a:srgbClr val="165E83"/>
          </a:solidFill>
          <a:ln w="15875">
            <a:solidFill>
              <a:srgbClr val="165E8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2860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PLAN_OPTIONS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UNIT_PRICE　コピーした単価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QUANTITY　数量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2128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合計金額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Σ ( UNIT_PRICE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　　　× QUANTITY 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35478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1秒以内に画面上部を更新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370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コピーしなかった場合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4846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マスタの定価を1回上げただけで、合意済みのプランの見積額まで書き換わる。過去の金額を証明できなくなる。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4206240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43708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コピーした場合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37960" y="48463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PLAN_OPTIONS に単価が残るため、いつ・いくらで提案したかが後から辿れる。マスタの改定と切り離せる。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修正は「件数」と「中身」を別々に残す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ver 1.4 の変更点のうち、いちばん大きいのがここです。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486400" cy="3200400"/>
          </a:xfrm>
          <a:prstGeom prst="roundRect">
            <a:avLst>
              <a:gd name="adj" fmla="val 2571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194560"/>
            <a:ext cx="457200" cy="457200"/>
          </a:xfrm>
          <a:prstGeom prst="ellipse">
            <a:avLst/>
          </a:prstGeom>
          <a:solidFill>
            <a:srgbClr val="5F6E79"/>
          </a:solidFill>
          <a:ln w="12700">
            <a:solidFill>
              <a:srgbClr val="5F6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旧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ver 1.3 まで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PLANNER_EVALUATIONS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383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AI_DIFF_COUNT　修正した回数だけ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9776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何をどう直したかは残らないため、AIの改善に使えるデータにならなかった。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5486400" cy="3200400"/>
          </a:xfrm>
          <a:prstGeom prst="roundRect">
            <a:avLst>
              <a:gd name="adj" fmla="val 2571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2194560"/>
            <a:ext cx="457200" cy="457200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0" y="2240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ver 1.4 で新設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53796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PLAN_REVISIONS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FIELD_NAME　直した項目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BEFORE_TEXT　直す前の本文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AFTER_TEXT　直した後の本文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件数はそのまま評価に、中身はAIの学習素材に回せる。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539496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3949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1つのプランに修正履歴は複数ぶら下がります（1対多）。EDITOR_ID で「誰が直したか」も残します。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ファイルはメッセージにぶら下がる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プラン → メッセージ → ファイルの3段構造です。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165E83"/>
          </a:solidFill>
          <a:ln w="15875">
            <a:solidFill>
              <a:srgbClr val="165E8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860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どのプランの話か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86200" y="2761488"/>
            <a:ext cx="45720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767328" y="23957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1対多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34840" y="228600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2860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MESSAGES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43484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本文・送信者・送信日時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2761488"/>
            <a:ext cx="457200" cy="0"/>
          </a:xfrm>
          <a:prstGeom prst="line">
            <a:avLst/>
          </a:prstGeom>
          <a:noFill/>
          <a:ln w="1905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744968" y="23957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1対多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0" y="228600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4A9D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22860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FILES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1248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S3のURL・ファイル名・サイズ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02336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DBに入れるもの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ファイル名・形式・サイズ・S3のURL。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本文テキストは MESSAGES.CONTENT に CLOB で持つ。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4023360"/>
            <a:ext cx="5486400" cy="1965960"/>
          </a:xfrm>
          <a:prstGeom prst="roundRect">
            <a:avLst>
              <a:gd name="adj" fmla="val 4186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206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DBに入れないもの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37960" y="47091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画像やPDFの実体。AWS S3に置き、DBはURLで参照するだけ。</a:t>
            </a:r>
            <a:endParaRPr lang="en-US" sz="15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上限は1件10MB、形式は jpeg / png / pdf のみ。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合意済みになると、評価が1行生まれる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ver 1.3 では列だけあって入力画面が決まっていませんでした。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4937760" cy="2743200"/>
          </a:xfrm>
          <a:prstGeom prst="roundRect">
            <a:avLst>
              <a:gd name="adj" fmla="val 3000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1945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SATISFACTION_SCORE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0" b="1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1〜5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5段階。スキップ可のため NULL を許容する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60720" y="1965960"/>
            <a:ext cx="5943600" cy="822960"/>
          </a:xfrm>
          <a:prstGeom prst="roundRect">
            <a:avLst>
              <a:gd name="adj" fmla="val 10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9320" y="2167128"/>
            <a:ext cx="420624" cy="420624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057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STATUS が AGREED になる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423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プランナーと顧客が合意した瞬間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2907792"/>
            <a:ext cx="5943600" cy="822960"/>
          </a:xfrm>
          <a:prstGeom prst="roundRect">
            <a:avLst>
              <a:gd name="adj" fmla="val 10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89320" y="3108960"/>
            <a:ext cx="420624" cy="420624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99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P-21 満足度評価を表示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33649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「担当の対応にどれくらい満足したか」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60720" y="3849624"/>
            <a:ext cx="5943600" cy="822960"/>
          </a:xfrm>
          <a:prstGeom prst="roundRect">
            <a:avLst>
              <a:gd name="adj" fmla="val 10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9320" y="4050792"/>
            <a:ext cx="420624" cy="420624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4050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0" y="39410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PLANNER_EVALUATIONS に記録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43068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PLANNER_ID・PLAN_ID とセットで1行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必須にすると回答しない顧客のプランで行が作れなくなるため、SATISFACTION_SCORE は NOT NULL にしていません。管理者の品質ダッシュボード（P-20）は、この列とAI_DIFF_COUNTを集計して表示します。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PLANSのSTATUSが進行の道しるべ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1つの列の値が変わるだけで、誰の出番かが切り替わります。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044598" cy="274320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1755" y="2240280"/>
            <a:ext cx="475488" cy="475488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41755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2880360"/>
            <a:ext cx="18251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作成中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66928" y="3794760"/>
            <a:ext cx="18251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CREATING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4434840"/>
            <a:ext cx="1825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動かす人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20086" y="3291840"/>
            <a:ext cx="201168" cy="0"/>
          </a:xfrm>
          <a:prstGeom prst="line">
            <a:avLst/>
          </a:prstGeom>
          <a:noFill/>
          <a:ln w="2540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57830" y="2011680"/>
            <a:ext cx="2044598" cy="274320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2386" y="2240280"/>
            <a:ext cx="475488" cy="475488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2386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67558" y="2880360"/>
            <a:ext cx="18251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AI提案確認中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867558" y="3794760"/>
            <a:ext cx="18251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CUSTOMER_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DRAFT_REVIEW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67558" y="4434840"/>
            <a:ext cx="1825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動かす人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顧客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20717" y="3291840"/>
            <a:ext cx="201168" cy="0"/>
          </a:xfrm>
          <a:prstGeom prst="line">
            <a:avLst/>
          </a:prstGeom>
          <a:noFill/>
          <a:ln w="2540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58461" y="2011680"/>
            <a:ext cx="2044598" cy="274320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43016" y="2240280"/>
            <a:ext cx="475488" cy="475488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43016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68189" y="2880360"/>
            <a:ext cx="18251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プランナー準備中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168189" y="3794760"/>
            <a:ext cx="18251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PLANNER_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PREPARING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8189" y="4434840"/>
            <a:ext cx="1825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動かす人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プランナー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21347" y="3291840"/>
            <a:ext cx="201168" cy="0"/>
          </a:xfrm>
          <a:prstGeom prst="line">
            <a:avLst/>
          </a:prstGeom>
          <a:noFill/>
          <a:ln w="2540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59091" y="2011680"/>
            <a:ext cx="2044598" cy="274320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43646" y="2240280"/>
            <a:ext cx="475488" cy="475488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43646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68819" y="2880360"/>
            <a:ext cx="18251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顧客確認中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468819" y="3794760"/>
            <a:ext cx="18251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CUSTOMER_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REVIEWING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68819" y="4434840"/>
            <a:ext cx="1825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動かす人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顧客とプランナー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421978" y="3291840"/>
            <a:ext cx="201168" cy="0"/>
          </a:xfrm>
          <a:prstGeom prst="line">
            <a:avLst/>
          </a:prstGeom>
          <a:noFill/>
          <a:ln w="25400">
            <a:solidFill>
              <a:srgbClr val="4A9D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659722" y="2011680"/>
            <a:ext cx="2044598" cy="2743200"/>
          </a:xfrm>
          <a:prstGeom prst="roundRect">
            <a:avLst>
              <a:gd name="adj" fmla="val 4025"/>
            </a:avLst>
          </a:prstGeom>
          <a:solidFill>
            <a:srgbClr val="E8EEF2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444277" y="2240280"/>
            <a:ext cx="475488" cy="475488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44277" y="2240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769450" y="2880360"/>
            <a:ext cx="182514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合意済み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9769450" y="3794760"/>
            <a:ext cx="18251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AGREED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769450" y="4434840"/>
            <a:ext cx="182514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動かす人</a:t>
            </a:r>
            <a:endParaRPr lang="en-US" sz="13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両者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5029200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50292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ステータスは VARCHAR2(30) の文字列で持ちます。数値コードではなく英大文字の名前にしているのは、DBを直接見たときに意味が読み取れるようにするためです。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5720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料金シミュレーション（P-13）は 1 の生成完了時点から使えます。プランナーの詳細プランを待ちません。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5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692640" y="-1097280"/>
            <a:ext cx="4023360" cy="4023360"/>
          </a:xfrm>
          <a:prstGeom prst="ellipse">
            <a:avLst/>
          </a:prstGeom>
          <a:solidFill>
            <a:srgbClr val="0F4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286000"/>
            <a:ext cx="914400" cy="914400"/>
          </a:xfrm>
          <a:prstGeom prst="ellipse">
            <a:avLst/>
          </a:prstGeom>
          <a:solidFill>
            <a:srgbClr val="4A9DB8"/>
          </a:solidFill>
          <a:ln w="12700">
            <a:solidFill>
              <a:srgbClr val="4A9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194560" y="22402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000" b="1" spc="-50" kern="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テーブル詳細と設計判断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194560" y="3429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E8EEF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12テーブルの全カラムと、そう決めた理由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2194560" y="41148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p.21〜31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T-01 USERS ｜ 1つの表で3種類の利用者を扱う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ROLE列の値だけで顧客・プランナー・管理者を切り替えます。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47088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97680"/>
              </a:tblGrid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データ型・制約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USER_ID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PK・自動採番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利用者を特定する番号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EMAIL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VARCHAR2(255) / NOT NULL UNIQUE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ログインID。重複登録を防ぐ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PASSWORD_HASH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VARCHAR2(255)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BCryptで変換した文字列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NAME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VARCHAR2(100)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氏名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ROLE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VARCHAR2(20)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CUSTOMER / PLANNER / ADMIN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CREATED_AT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登録日時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UPDATED_AT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最終更新日時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DELETED_AT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論理削除の日時。NULLなら有効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T-02 RESET_TOKENS ｜ リセットURLは使い捨てになる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有効期限と使用済み日時の2列だけで、使い回しを止めています。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47088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データ型・制約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TOKEN_ID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PK・自動採番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トークンを特定する番号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USER_ID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FK(USERS)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申請した利用者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TOKEN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VARCHAR2(255) / NOT NULL UNIQUE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ランダム生成した使い捨て文字列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EXPIRES_AT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有効期限。申請から30分後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USED_AT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使用日時。NULLなら未使用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CREATED_AT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作成日時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21208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2120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2回目のアクセスは USED_AT が NULL でないことで弾きます。行を消さずに「使った証拠」を残す設計です。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080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有効期限切れのトークンは、運用で定期的に削除する想定です。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T-03 ONBOARDING_ANSWERS ｜ 回答は顧客ごとに1行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5画面ぶんの入力が、この1レコードに収まります。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754880"/>
                <a:gridCol w="3931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データ型・制約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ANSWER_ID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PK・自動採番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回答を特定する番号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USER_ID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FK(USERS)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回答した顧客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ARCHETYPE_ID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FK(ARCHETYPE_MASTER)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Step1で選んだアーキタイプ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VISUAL_SELECTIONS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選んだ画像IDのリスト（JSON）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DESIRED_DATE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DATE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希望日程。未定ならNULL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BUDGET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予算（円）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UNDECIDED_TAGS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VARCHAR2(1000)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決められないこと（カンマ区切り）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DECIDED_TAGS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VARCHAR2(1000)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こだわりたいこと（カンマ区切り）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DEEPDIVE_QA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深掘り質問と回答（JSON）★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CREATED_AT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回答日時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★ = ver 1.4 で追加した列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T-04 PLANS ｜ この設計の中心にある表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FKを4本持ち、AIとプランナーの成果物を同じ行に並べています。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754880"/>
                <a:gridCol w="393192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データ型・制約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PK・自動採番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プランを特定する番号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USER_ID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FK(USERS)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このプランの顧客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PLANNER_ID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FK(USERS)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担当プランナー。割当前はNULL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ANSWER_ID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FK(ONBOARDING_ANSWERS)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元になったヒアリング回答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STATUS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VARCHAR2(30)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進行状態。5種類の文字列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AI_DRAFT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AIが生成したプラン雛形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VALUE_SUMMARY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AIが整理した価値観の要点 ★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PLANNER_PLAN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プランナーが編集した詳細プラン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CREATED_AT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作成日時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UPDATED_AT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最終更新日時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★ = ver 1.4 で追加した列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T-05・T-06 ｜ 金額はこの2表で決まる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左が「このプランで選んだもの」、右が「値段の元データ」です。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T-05 PLAN_OPTIONS</a:t>
            </a:r>
            <a:endParaRPr lang="en-US" sz="1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84832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OPTION_ID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PK・自動採番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FK（PLANS）NOT NULL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ITEM_ID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FK（PRICE_MASTER）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QUANTITY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数量。例：招待人数100人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UNIT_PRICE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単価。追加時点の価格をコピー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IS_CONFIRMED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Y＝確定金額／N＝変動あり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CREATED_AT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追加日時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T-06 PRICE_MASTER</a:t>
            </a:r>
            <a:endParaRPr lang="en-US" sz="18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84832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ITEM_ID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PK・自動採番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ITEM_NAME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例：会場使用料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CATEGORY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例：会場／料理／演出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BASE_PRICE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基本価格（円）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IS_VARIABLE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Y＝変動あり／N＝確定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DESCRIPTION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アイテムの説明文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UPDATED_AT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管理者が更新した日時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57200" y="60350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IS_CONFIRMED と IS_VARIABLE は向きが逆の意味です。画面で「確定金額」と「変動する金額」を色分けするために使います。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T-07・T-08 ｜ 会話と添付は親子で持つ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FILESは必ずどれかのメッセージにぶら下がります。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T-07 MESSAGES</a:t>
            </a:r>
            <a:endParaRPr lang="en-US" sz="1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MESSAGE_ID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PK・自動採番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FK（PLANS）・NOT NULL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SENDER_ID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FK（USERS）・NOT NULL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CONTENT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本文。CLOB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SENT_AT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送信日時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T-08 FILES</a:t>
            </a:r>
            <a:endParaRPr lang="en-US" sz="18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10312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FILE_ID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PK・自動採番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MESSAGE_ID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FK（MESSAGES）NOT NULL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FILE_URL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S3上のURL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FILE_NAME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元のファイル名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FILE_TYPE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jpeg／png／pdf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FILE_SIZE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バイト数。上限10MB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UPLOADED_AT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アップロード日時</a:t>
                      </a:r>
                      <a:endParaRPr lang="en-US" sz="17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566928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56692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メッセージが PLAN_ID を持つため、どのプランについてのやり取りかが常に特定できます。顧客とプランナーの画面（P-14・P-17）は同じ MESSAGES を見ています。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T-09・T-10 ｜ 画面の選択肢はDBから出す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コードに直接書かず表に持つことで、増減を運用で吸収できます。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T-09 ARCHETYPE_MASTER（Step1のカード）</a:t>
            </a:r>
            <a:endParaRPr lang="en-US" sz="17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ARCHETYPE_ID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PK・自動採番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NAME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例：アットホーム派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DESCRIPTION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カードに出す説明文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IMAGE_URL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カードのイメージ画像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T-10 VISUAL_IMAGES（Step2のスワイプ画像）</a:t>
            </a:r>
            <a:endParaRPr lang="en-US" sz="17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194560"/>
          <a:ext cx="54864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383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IMAGE_ID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PK・自動採番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CATEGORY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VENUE／DRESS／DECORATION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IMAGE_URL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S3上の画像URL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STYLE_TAGS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スタイルタグ（JSON）</a:t>
                      </a:r>
                      <a:endParaRPr lang="en-US" sz="16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4892040"/>
            <a:ext cx="11247120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7240" y="5029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STYLE_TAGS がAIの入口になる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77240" y="546811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顧客が選んだ画像IDは ONBOARDING_ANSWERS.VISUAL_SELECTIONS に残る。その画像に付いたタグを引くことで、言葉にしにくい好みをAIへの入力に変換している。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T-11 PLANNER_EVALUATIONS ｜ 評価はプラン単位で貯める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管理者の品質ダッシュボード（P-20）は、この表を集計しています。</a:t>
            </a:r>
            <a:endParaRPr lang="en-US" sz="15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47088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データ型・制約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EVAL_ID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PK・自動採番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評価レコードを特定する番号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PLANNER_ID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FK(USERS)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評価対象のプランナー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FK(PLANS)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対象となったプラン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SATISFACTION_SCORE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NUMBER(1)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満足度。1〜5。P-21で入力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AI_DIFF_COUNT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AI雛形を修正した差分の数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EVAL_DATE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DATE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評価を記録した日付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257800"/>
            <a:ext cx="11247120" cy="731520"/>
          </a:xfrm>
          <a:prstGeom prst="roundRect">
            <a:avLst>
              <a:gd name="adj" fmla="val 10000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2578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プランナーごとの平均を出したいときは PLANNER_ID でまとめます。1人のプランナーに複数の評価行がぶら下がる形です。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T-12 PLAN_REVISIONS ｜ ver 1.4で新設した表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修正の中身そのものを残すために追加しました。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47088"/>
          <a:ext cx="11247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カラム名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データ型・制約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意味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65E8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REVISION_ID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PK・自動採番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修正履歴を特定する番号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PLAN_ID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FK(PLANS)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修正が行われたプラン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EDITOR_ID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NUMBER / FK(USERS)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修正したプランナー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FIELD_NAME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VARCHAR2(50)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直した項目。AI_DRAFT など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BEFORE_TEXT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修正前の内容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AFTER_TEXT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CLOB / 任意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修正後の内容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EDITED_AT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TIMESTAMP / NOT NULL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BIZ UDPゴシック" pitchFamily="34" charset="0"/>
                          <a:ea typeface="BIZ UDPゴシック" pitchFamily="34" charset="-122"/>
                          <a:cs typeface="BIZ UDPゴシック" pitchFamily="34" charset="-120"/>
                        </a:rPr>
                        <a:t>修正日時</a:t>
                      </a:r>
                      <a:endParaRPr lang="en-US" sz="1800" dirty="0">
                        <a:latin typeface="BIZ UDPゴシック" charset="0"/>
                        <a:ea typeface="BIZ UDPゴシック" charset="0"/>
                        <a:cs typeface="BIZ UDPゴシック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CB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62356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E8EEF2"/>
          </a:solidFill>
          <a:ln w="12700">
            <a:solidFill>
              <a:srgbClr val="E8EE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56235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4460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FIELD_NAME に列名を文字列で入れるため、将来PLANSに列が増えても表の構造を変えずに履歴を取れます。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この設計書には3つの判断が埋まっている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47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レビューで見るとよい観点でもあります。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247120" cy="1325880"/>
          </a:xfrm>
          <a:prstGeom prst="roundRect">
            <a:avLst>
              <a:gd name="adj" fmla="val 6207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331720"/>
            <a:ext cx="512064" cy="512064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317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084832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その時の値段をコピーして持つ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08760" y="25420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PLAN_OPTIONS.UNIT_PRICE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21031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マスタを参照するだけだと、価格改定で過去の見積額が書き換わる。追加時点の単価を写して切り離す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01568"/>
            <a:ext cx="11247120" cy="1325880"/>
          </a:xfrm>
          <a:prstGeom prst="roundRect">
            <a:avLst>
              <a:gd name="adj" fmla="val 6207"/>
            </a:avLst>
          </a:prstGeom>
          <a:solidFill>
            <a:srgbClr val="F4F8FA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813048"/>
            <a:ext cx="512064" cy="512064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813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56616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消さずに残す論理削除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08760" y="4023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USERS.DELETED_AT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06640" y="3584448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行を削除すると、そのユーザーのプランやメッセージのFKが行方不明になる。日時を入れて無効化する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882896"/>
            <a:ext cx="11247120" cy="1325880"/>
          </a:xfrm>
          <a:prstGeom prst="roundRect">
            <a:avLst>
              <a:gd name="adj" fmla="val 6207"/>
            </a:avLst>
          </a:prstGeom>
          <a:solidFill>
            <a:srgbClr val="E8EEF2"/>
          </a:solidFill>
          <a:ln w="12700">
            <a:solidFill>
              <a:srgbClr val="CBD8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294376"/>
            <a:ext cx="512064" cy="512064"/>
          </a:xfrm>
          <a:prstGeom prst="ellipse">
            <a:avLst/>
          </a:prstGeom>
          <a:solidFill>
            <a:srgbClr val="165E83"/>
          </a:solidFill>
          <a:ln w="12700">
            <a:solidFill>
              <a:srgbClr val="165E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294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08760" y="5047488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165E8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形が決まらないものはCLOBに置く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508760" y="55046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AI_DRAFT ／ DEEPDIVE_QA ／ VISUAL_SELECTIONS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5065776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AIの生成文や選択リストは長さも構造も読めない。上限を決めて溢れるより、CLOBで受けて画面側で扱う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291072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F6E79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※ 逆に決めきれていない点として、有効期限切れトークンの削除方針と、PLAN_REVISIONS の保存期間は運用側の検討が残ります。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5E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89920" y="6382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8961120" y="3566160"/>
            <a:ext cx="4937760" cy="4937760"/>
          </a:xfrm>
          <a:prstGeom prst="ellipse">
            <a:avLst/>
          </a:prstGeom>
          <a:solidFill>
            <a:srgbClr val="0F4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ver 1.4 の変更は、すべてAI活用の実務から出ている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0292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●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T-12 PLAN_REVISIONS を新設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18541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修正の件数だけでなく中身を残し、AIの改善素材にする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651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T-03 に DEEPDIVE_QA を追加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05409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AI深掘り質問と回答の置き場所を確保する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35204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T-04 に VALUE_SUMMARY を追加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392277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価値観の要点をプランナーへ申し送る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9DB8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43891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P-21 満足度評価画面を新設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479145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8EEF2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SATISFACTION_SCORE の入力経路を確定させる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5486400"/>
            <a:ext cx="1463040" cy="0"/>
          </a:xfrm>
          <a:prstGeom prst="line">
            <a:avLst/>
          </a:prstGeom>
          <a:noFill/>
          <a:ln w="38100">
            <a:solidFill>
              <a:srgbClr val="4A9D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715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000" b="1" spc="-50" kern="0" dirty="0">
                <a:solidFill>
                  <a:srgbClr val="FFFFFF"/>
                </a:solidFill>
                <a:latin typeface="BIZ UDPゴシック" pitchFamily="34" charset="0"/>
                <a:ea typeface="BIZ UDPゴシック" pitchFamily="34" charset="-122"/>
                <a:cs typeface="BIZ UDPゴシック" pitchFamily="34" charset="-120"/>
              </a:rPr>
              <a:t>迷ったら、PLANSから線をたどる。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AIブライダルプランニング支援システム DB設計 解説</dc:title>
  <dc:subject>PptxGenJS Presentation</dc:subject>
  <dc:creator>P2C：Creepy Code</dc:creator>
  <cp:lastModifiedBy>P2C：Creepy Code</cp:lastModifiedBy>
  <cp:revision>1</cp:revision>
  <dcterms:created xsi:type="dcterms:W3CDTF">2026-07-27T06:16:42Z</dcterms:created>
  <dcterms:modified xsi:type="dcterms:W3CDTF">2026-07-27T06:16:42Z</dcterms:modified>
</cp:coreProperties>
</file>
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CU89rgyJlVswut7Z/rA4VYz4A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ようすけ：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これから、Creepy Codeの発表をはじめます。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一人一人自己紹介を入れる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ようすけ</a:t>
            </a: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しおん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りゅうのすけ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ゆうき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ゆうと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のりなり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>
                <a:solidFill>
                  <a:schemeClr val="dk1"/>
                </a:solidFill>
              </a:rPr>
              <a:t>ようすけ：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本日の発表は、大きく4つの流れでお話しします。</a:t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しおん：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最初に、業界を選んだ理由です。</a:t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>
                <a:solidFill>
                  <a:schemeClr val="dk1"/>
                </a:solidFill>
              </a:rPr>
              <a:t>しおん：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理由は4つあります。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1点目、「成長市場」です。婚姻件数は減っていますが、フォト婚の実施率は74.4%と過去最高。市場規模も1,025億円に達しています。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2点目、「課題が明確」です。複数サービスを掛け持ちする手間、夜間に問い合わせできない問題、費用が見えないストレス。どれもITで解決できます。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3点目、「技術適性」です。AIチャット・予約システム・データ管理は、私たちが学んでいる技術そのもので</a:t>
            </a:r>
            <a:r>
              <a:rPr lang="ja-JP">
                <a:solidFill>
                  <a:schemeClr val="dk1"/>
                </a:solidFill>
              </a:rPr>
              <a:t>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4点目、「ターゲットが明確」です。20代後半から30代の共働きカップルに絞ることで、設計がぶれません。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以上、4つの理由から、ブライダル業界を選択しました。</a:t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のりなり：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次に、業界の現状と課題です。</a:t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やぶのり：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業界の現状は、スライドの通りとなっております。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婚姻件数は2024年に48.5万組。ピーク時の半分以下です。一方でフォト婚の実施率は74.4%と過去最高を記録しており、市場規模は1,025億円に拡大しています。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つまり「結婚式をやる人は減っているが、写真を撮る人は増えている」というのが現状です。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>
                <a:solidFill>
                  <a:schemeClr val="dk1"/>
                </a:solidFill>
              </a:rPr>
              <a:t>さらに平均費用も年々上昇しており、1組あたり28.4万円。高単価化も進んでいます。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ゆうき：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次に、ユーザーが感じている課題点です。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課題点は大きく4つあり、</a:t>
            </a:r>
            <a:r>
              <a:rPr lang="ja-JP">
                <a:solidFill>
                  <a:schemeClr val="dk1"/>
                </a:solidFill>
              </a:rPr>
              <a:t>大きく4つの課題があります。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1つ目、「情報の分散」。場所・カメラマン・衣装をそれぞれ別のサービスで探す必要があり、手間が大きい。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2つ目、「営業時間の壁」。電話が苦手な20代や、夜勤明けに調べたい30代が多く、夜間は問い合わせできない。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3つ目、「費用の不透明感」。初回見積もりが低くて後から追加費用が増える慣行がある。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4つ目、「日程調整の手間」。3者の空き日程を自分で合わせるのが非常に煩雑。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以上4つが大きな課題として挙げられている問題です。</a:t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りゅうのすけ：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次に、システム提案です。</a:t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>
                <a:solidFill>
                  <a:schemeClr val="dk1"/>
                </a:solidFill>
              </a:rPr>
              <a:t>りゅうのすけ：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提案するのは、フォト婚に特化したオールインワンプラットフォームです。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>
                <a:solidFill>
                  <a:schemeClr val="dk1"/>
                </a:solidFill>
              </a:rPr>
              <a:t>最大の特徴は2点。「3つの予約モジュールを1サービスに統合すること」と、「AIプランナーを搭載してサイト内で完結させること」です。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>
                <a:solidFill>
                  <a:schemeClr val="dk1"/>
                </a:solidFill>
              </a:rPr>
              <a:t>場所」「カメラマン」「衣装」の3つです。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>
                <a:solidFill>
                  <a:schemeClr val="dk1"/>
                </a:solidFill>
              </a:rPr>
              <a:t>場所は地図検索と空き状況をリアルタイムで確認できます。カメラマンはポートフォリオと口コミを見て選べます。衣装はサイズ・カラーの在庫をオンラインで確認し、セット割引でまとめて予約できます。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>
                <a:solidFill>
                  <a:schemeClr val="dk1"/>
                </a:solidFill>
              </a:rPr>
              <a:t>そして最大のポイントは、選択するたびに費用の総額がリアルタイムで更新されることです。「最終的にいくらかかるか分からない」という不安を、UIの設計で解消します。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>
                <a:solidFill>
                  <a:schemeClr val="dk1"/>
                </a:solidFill>
              </a:rPr>
              <a:t>ゆうと：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このシステムの差別化ポイントが、AIプランナー「ハナ」です。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従来はプランナーに電話・来店しないと進まなかった相談が、チャットで24時間対応できるようになります。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「森の中でナチュラルな雰囲気、ドレスはオフホワイト、予算30万」と入力するだけで、AIがプランを自動生成します。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また、費用シミュレーション・スケジュール最適化・ビジュアル診断・準備リマインド・FAQ対応の6つの機能を搭載します。これにより「深夜に調べてそのまま予約完了」という体験が実現できます。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>
                <a:solidFill>
                  <a:schemeClr val="dk1"/>
                </a:solidFill>
              </a:rPr>
              <a:t>ようすけ：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先ほどお伝えした4つの課題が、このシステムでどう解決されるかを整理します。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「情報の分散」→ 3モジュール一元予約で、複数サービスの掛け持ちが不要になります。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「営業時間の壁」→ AIが24時間対応するので、深夜でも相談・予約が完了できます。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「費用の不透明感」→ リアルタイム費用シミュレーターで、選ぶたびに総額が更新されます。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「日程調整の手間」→ 3者の空き日程をAIが自動照合し、候補日を即提示します。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課題と解決策が1対1で対応しているのが、このシステムの強みです。</a:t>
            </a:r>
            <a:endParaRPr/>
          </a:p>
        </p:txBody>
      </p:sp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>
                <a:solidFill>
                  <a:schemeClr val="dk1"/>
                </a:solidFill>
              </a:rPr>
              <a:t>ようすけ：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最後に、このシステムによって期待される効果をまとめます。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チャット開始から予約完了までのCVR（転換率）は15%以上を目標にしています。ペルソナAの平均受注額は22〜28万円、こだわり層のペルソナBは38〜50万円を見込んでいます。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また、納品後のSNSシェア率を40%以上にする設計にすることで、SNS経由の口コミ集客エンジンに育てます。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ユーザー側には「手間ゼロ・安心感・自由度」を、提供側には「業務効率化・集客強化・データ蓄積」をそれぞれ提供できます。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ようすけ：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ご質問があれば、挙手をお願いいたします。</a:t>
            </a:r>
            <a:endParaRPr/>
          </a:p>
        </p:txBody>
      </p:sp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b6cad98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ようすけ：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/>
              <a:t>発表は以上になります！ご清聴ありがとうございました！</a:t>
            </a:r>
            <a:endParaRPr/>
          </a:p>
        </p:txBody>
      </p:sp>
      <p:sp>
        <p:nvSpPr>
          <p:cNvPr id="271" name="Google Shape;271;g3eb6cad98c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 縦書きテキスト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800000"/>
            <a:ext cx="12192000" cy="6058000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300000" y="900000"/>
            <a:ext cx="11592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6000"/>
              <a:buFont typeface="Arial"/>
              <a:buNone/>
            </a:pPr>
            <a:r>
              <a:rPr b="1" i="0" lang="ja-JP" sz="6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フォト婚</a:t>
            </a:r>
            <a:r>
              <a:rPr b="1" lang="ja-JP" sz="6400">
                <a:solidFill>
                  <a:srgbClr val="1A3A5C"/>
                </a:solidFill>
              </a:rPr>
              <a:t>コーディネート支援</a:t>
            </a:r>
            <a:endParaRPr b="1" i="0" sz="6400" u="none" cap="none" strike="noStrike">
              <a:solidFill>
                <a:srgbClr val="000000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00000" y="2100000"/>
            <a:ext cx="11592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6000"/>
              <a:buFont typeface="Arial"/>
              <a:buNone/>
            </a:pPr>
            <a:r>
              <a:rPr b="1" lang="ja-JP" sz="6000">
                <a:solidFill>
                  <a:srgbClr val="2E86C1"/>
                </a:solidFill>
              </a:rPr>
              <a:t>Webツール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00000" y="3350000"/>
            <a:ext cx="11592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2000"/>
              <a:buFont typeface="Arial"/>
              <a:buNone/>
            </a:pPr>
            <a:r>
              <a:rPr b="0" i="0" lang="ja-JP" sz="200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〜 AIプランナーで、スマホひとつで完結する結婚記念写真体験 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300000" y="4050000"/>
            <a:ext cx="5500000" cy="25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00000" y="4300000"/>
            <a:ext cx="40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3000"/>
              <a:buFont typeface="Arial"/>
              <a:buNone/>
            </a:pPr>
            <a:r>
              <a:rPr b="1" i="0" lang="ja-JP" sz="3000" u="none" cap="none" strike="noStrike">
                <a:solidFill>
                  <a:srgbClr val="2E86C1"/>
                </a:solidFill>
                <a:latin typeface="Arial"/>
                <a:ea typeface="Arial"/>
                <a:cs typeface="Arial"/>
                <a:sym typeface="Arial"/>
              </a:rPr>
              <a:t>Creepy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00000" y="5100000"/>
            <a:ext cx="60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900"/>
              <a:buFont typeface="Arial"/>
              <a:buNone/>
            </a:pPr>
            <a:r>
              <a:rPr b="0" i="0" lang="ja-JP" sz="19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ブライダル業界　IT活用提案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2000" y="6204667"/>
            <a:ext cx="800000" cy="5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300000" y="200000"/>
            <a:ext cx="11592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400"/>
              <a:buFont typeface="Arial"/>
              <a:buNone/>
            </a:pPr>
            <a:r>
              <a:rPr b="1" i="0" lang="ja-JP" sz="44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本日の流れ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00000" y="990000"/>
            <a:ext cx="11592000" cy="25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572098" y="1152525"/>
            <a:ext cx="11319900" cy="988200"/>
          </a:xfrm>
          <a:prstGeom prst="roundRect">
            <a:avLst>
              <a:gd fmla="val 15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t" bIns="44625" lIns="89300" spcFirstLastPara="1" rIns="89300" wrap="square" tIns="44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7"/>
              <a:buFont typeface="Arial"/>
              <a:buNone/>
            </a:pPr>
            <a:r>
              <a:t/>
            </a:r>
            <a:endParaRPr b="0" i="0" sz="13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786640" y="1114013"/>
            <a:ext cx="108906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800" lIns="195300" spcFirstLastPara="1" rIns="195300" wrap="square" tIns="175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44"/>
              <a:buFont typeface="Arial"/>
              <a:buNone/>
            </a:pPr>
            <a:r>
              <a:rPr b="1" i="0" lang="ja-JP" sz="23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　ブライダル業界を選んだ理由</a:t>
            </a:r>
            <a:endParaRPr b="0" i="0" sz="13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72000" y="2201242"/>
            <a:ext cx="11319900" cy="988200"/>
          </a:xfrm>
          <a:prstGeom prst="roundRect">
            <a:avLst>
              <a:gd fmla="val 15000" name="adj"/>
            </a:avLst>
          </a:prstGeom>
          <a:solidFill>
            <a:srgbClr val="2874A6"/>
          </a:solidFill>
          <a:ln>
            <a:noFill/>
          </a:ln>
        </p:spPr>
        <p:txBody>
          <a:bodyPr anchorCtr="0" anchor="t" bIns="44625" lIns="89300" spcFirstLastPara="1" rIns="89300" wrap="square" tIns="44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786840" y="2201242"/>
            <a:ext cx="108906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800" lIns="195300" spcFirstLastPara="1" rIns="195300" wrap="square" tIns="175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44"/>
              <a:buFont typeface="Arial"/>
              <a:buNone/>
            </a:pPr>
            <a:r>
              <a:rPr b="1" i="0" lang="ja-JP" sz="23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　業界の現状と解決したい課題</a:t>
            </a:r>
            <a:endParaRPr b="0" i="0" sz="13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572000" y="3249958"/>
            <a:ext cx="11319900" cy="988200"/>
          </a:xfrm>
          <a:prstGeom prst="roundRect">
            <a:avLst>
              <a:gd fmla="val 15000" name="adj"/>
            </a:avLst>
          </a:prstGeom>
          <a:solidFill>
            <a:srgbClr val="21618C"/>
          </a:solidFill>
          <a:ln>
            <a:noFill/>
          </a:ln>
        </p:spPr>
        <p:txBody>
          <a:bodyPr anchorCtr="0" anchor="t" bIns="44625" lIns="89300" spcFirstLastPara="1" rIns="89300" wrap="square" tIns="44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786840" y="3249958"/>
            <a:ext cx="108906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800" lIns="195300" spcFirstLastPara="1" rIns="195300" wrap="square" tIns="175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44"/>
              <a:buFont typeface="Arial"/>
              <a:buNone/>
            </a:pPr>
            <a:r>
              <a:rPr b="1" i="0" lang="ja-JP" sz="23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　システム案の提案（機能・メリット）</a:t>
            </a:r>
            <a:endParaRPr b="0" i="0" sz="13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572000" y="4298675"/>
            <a:ext cx="11319900" cy="988200"/>
          </a:xfrm>
          <a:prstGeom prst="roundRect">
            <a:avLst>
              <a:gd fmla="val 15000" name="adj"/>
            </a:avLst>
          </a:prstGeom>
          <a:solidFill>
            <a:srgbClr val="1A5276"/>
          </a:solidFill>
          <a:ln>
            <a:noFill/>
          </a:ln>
        </p:spPr>
        <p:txBody>
          <a:bodyPr anchorCtr="0" anchor="t" bIns="44625" lIns="89300" spcFirstLastPara="1" rIns="89300" wrap="square" tIns="44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786840" y="4298675"/>
            <a:ext cx="108906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800" lIns="195300" spcFirstLastPara="1" rIns="195300" wrap="square" tIns="175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44"/>
              <a:buFont typeface="Arial"/>
              <a:buNone/>
            </a:pPr>
            <a:r>
              <a:rPr b="1" i="0" lang="ja-JP" sz="23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　期待される効果・まとめ</a:t>
            </a:r>
            <a:endParaRPr b="0" i="0" sz="13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72000" y="5347392"/>
            <a:ext cx="11319900" cy="988200"/>
          </a:xfrm>
          <a:prstGeom prst="roundRect">
            <a:avLst>
              <a:gd fmla="val 15000" name="adj"/>
            </a:avLst>
          </a:prstGeom>
          <a:solidFill>
            <a:srgbClr val="AED6F1"/>
          </a:solidFill>
          <a:ln>
            <a:noFill/>
          </a:ln>
        </p:spPr>
        <p:txBody>
          <a:bodyPr anchorCtr="0" anchor="t" bIns="44625" lIns="89300" spcFirstLastPara="1" rIns="89300" wrap="square" tIns="44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786840" y="5347392"/>
            <a:ext cx="108906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800" lIns="195300" spcFirstLastPara="1" rIns="195300" wrap="square" tIns="175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344"/>
              <a:buFont typeface="Arial"/>
              <a:buNone/>
            </a:pPr>
            <a:r>
              <a:rPr b="1" i="0" lang="ja-JP" sz="2344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Q&amp;A　質疑応答</a:t>
            </a:r>
            <a:endParaRPr b="0" i="0" sz="13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2931" y="6335596"/>
            <a:ext cx="799058" cy="532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4FB">
              <a:alpha val="8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246000" y="1650000"/>
            <a:ext cx="700000" cy="700000"/>
          </a:xfrm>
          <a:prstGeom prst="roundRect">
            <a:avLst>
              <a:gd fmla="val 50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5246000" y="1650000"/>
            <a:ext cx="7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200000" spcFirstLastPara="1" rIns="200000" wrap="square" tIns="180000">
            <a:normAutofit fontScale="7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b="1" lang="ja-JP" sz="2800">
                <a:solidFill>
                  <a:srgbClr val="FFFFFF"/>
                </a:solidFill>
              </a:rPr>
              <a:t>0</a:t>
            </a:r>
            <a:r>
              <a:rPr b="1" i="0" lang="ja-JP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00000" y="2550000"/>
            <a:ext cx="11592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6000"/>
              <a:buFont typeface="Arial"/>
              <a:buNone/>
            </a:pPr>
            <a:r>
              <a:rPr b="1" i="0" lang="ja-JP" sz="6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業界を選んだ理由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300000" y="3900000"/>
            <a:ext cx="11592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2600"/>
              <a:buFont typeface="Arial"/>
              <a:buNone/>
            </a:pPr>
            <a:r>
              <a:rPr b="0" i="0" lang="ja-JP" sz="2600" u="none" cap="none" strike="noStrike">
                <a:solidFill>
                  <a:srgbClr val="2E86C1"/>
                </a:solidFill>
                <a:latin typeface="Arial"/>
                <a:ea typeface="Arial"/>
                <a:cs typeface="Arial"/>
                <a:sym typeface="Arial"/>
              </a:rPr>
              <a:t>ブライダル業界 ／ フォト婚サービス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2000" y="6204667"/>
            <a:ext cx="800000" cy="5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/>
        </p:nvSpPr>
        <p:spPr>
          <a:xfrm>
            <a:off x="300000" y="200000"/>
            <a:ext cx="11592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400"/>
              <a:buFont typeface="Arial"/>
              <a:buNone/>
            </a:pPr>
            <a:r>
              <a:rPr b="1" i="0" lang="ja-JP" sz="44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01　業界を選んだ理由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00000" y="990000"/>
            <a:ext cx="11592000" cy="25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00000" y="1090000"/>
            <a:ext cx="5746000" cy="2100000"/>
          </a:xfrm>
          <a:prstGeom prst="roundRect">
            <a:avLst>
              <a:gd fmla="val 18000" name="adj"/>
            </a:avLst>
          </a:prstGeom>
          <a:solidFill>
            <a:srgbClr val="D6EA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520000" y="1250000"/>
            <a:ext cx="5306000" cy="1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[成長]  成長市場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000"/>
              <a:buFont typeface="Arial"/>
              <a:buNone/>
            </a:pPr>
            <a:r>
              <a:rPr b="1" i="0" lang="ja-JP" sz="2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市場は縮小傾向でもフォト婚は急成長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00"/>
              <a:buFont typeface="Arial"/>
              <a:buNone/>
            </a:pPr>
            <a:r>
              <a:rPr b="0" i="0" lang="ja-JP" sz="19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婚姻件数は48.5万組（ピーク比-56%）と減少する一方、フォト婚の実施率は74.4%と過去最高を更新。市場規模は1,025億円に到達。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146000" y="1090000"/>
            <a:ext cx="5746000" cy="2100000"/>
          </a:xfrm>
          <a:prstGeom prst="roundRect">
            <a:avLst>
              <a:gd fmla="val 18000" name="adj"/>
            </a:avLst>
          </a:prstGeom>
          <a:solidFill>
            <a:srgbClr val="FEF9E7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6366000" y="1250000"/>
            <a:ext cx="5306000" cy="1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6608"/>
              </a:buClr>
              <a:buSzPct val="100000"/>
              <a:buFont typeface="Arial"/>
              <a:buNone/>
            </a:pPr>
            <a:r>
              <a:rPr b="1" i="0" lang="ja-JP" sz="2400" u="none" cap="none" strike="noStrike">
                <a:solidFill>
                  <a:srgbClr val="7D6608"/>
                </a:solidFill>
                <a:latin typeface="Arial"/>
                <a:ea typeface="Arial"/>
                <a:cs typeface="Arial"/>
                <a:sym typeface="Arial"/>
              </a:rPr>
              <a:t>[課題]  課題の明確さ</a:t>
            </a:r>
            <a:endParaRPr b="1" i="0" sz="2400" u="none" cap="none" strike="noStrike">
              <a:solidFill>
                <a:srgbClr val="7D660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1" i="0" lang="ja-JP" sz="2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「準備が大変・費用が不明確」という明確な課題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0" i="0" lang="ja-JP" sz="19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複数サービスを使い分ける手間、夜間対応ゼロのアナログ構造、追加費用への不安。ITで全て解決できる。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00000" y="3270000"/>
            <a:ext cx="5746000" cy="2100000"/>
          </a:xfrm>
          <a:prstGeom prst="roundRect">
            <a:avLst>
              <a:gd fmla="val 18000" name="adj"/>
            </a:avLst>
          </a:prstGeom>
          <a:solidFill>
            <a:srgbClr val="EAFAF1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520000" y="3430000"/>
            <a:ext cx="5306000" cy="1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ct val="100000"/>
              <a:buFont typeface="Arial"/>
              <a:buNone/>
            </a:pPr>
            <a:r>
              <a:rPr b="1" i="0" lang="ja-JP" sz="24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[技術]  技術適性</a:t>
            </a:r>
            <a:endParaRPr b="1" i="0" sz="2400" u="none" cap="none" strike="noStrike">
              <a:solidFill>
                <a:srgbClr val="1E844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1" i="0" lang="ja-JP" sz="2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Creepy CodeがビジネスとITで挑戦できる領域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0" i="0" lang="ja-JP" sz="19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AIチャット・予約システム・データ管理など、学校で学ぶ技術スタックが直接活かせる。Web/デスクトップ開発の実践として最適。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146000" y="3270000"/>
            <a:ext cx="5746000" cy="2100000"/>
          </a:xfrm>
          <a:prstGeom prst="roundRect">
            <a:avLst>
              <a:gd fmla="val 18000" name="adj"/>
            </a:avLst>
          </a:prstGeom>
          <a:solidFill>
            <a:srgbClr val="F4ECF7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6366000" y="3430000"/>
            <a:ext cx="5306000" cy="1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fontScale="9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3483"/>
              </a:buClr>
              <a:buSzPct val="100000"/>
              <a:buFont typeface="Arial"/>
              <a:buNone/>
            </a:pPr>
            <a:r>
              <a:rPr b="1" i="0" lang="ja-JP" sz="2400" u="none" cap="none" strike="noStrike">
                <a:solidFill>
                  <a:srgbClr val="6C3483"/>
                </a:solidFill>
                <a:latin typeface="Arial"/>
                <a:ea typeface="Arial"/>
                <a:cs typeface="Arial"/>
                <a:sym typeface="Arial"/>
              </a:rPr>
              <a:t>[目標]  ターゲット明確</a:t>
            </a:r>
            <a:endParaRPr b="1" i="0" sz="2400" u="none" cap="none" strike="noStrike">
              <a:solidFill>
                <a:srgbClr val="6C348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1" i="0" lang="ja-JP" sz="2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ターゲットが明確で設計しやすい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0" i="0" lang="ja-JP" sz="19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20代後半〜30代前半の共働きカップルに絞り込み。スマホ完結・深夜対応・費用透明化の3ニーズが明確でシステム要件に落とし込みやすい。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00000" y="5450000"/>
            <a:ext cx="11592000" cy="720000"/>
          </a:xfrm>
          <a:prstGeom prst="roundRect">
            <a:avLst>
              <a:gd fmla="val 15000" name="adj"/>
            </a:avLst>
          </a:prstGeom>
          <a:solidFill>
            <a:srgbClr val="1A52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520000" y="5427338"/>
            <a:ext cx="111519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200000" spcFirstLastPara="1" rIns="200000" wrap="square" tIns="1800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これら4点が「フォト婚×IT」を選ぶ理由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2000" y="6204667"/>
            <a:ext cx="800000" cy="5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3E0">
              <a:alpha val="39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246000" y="1650000"/>
            <a:ext cx="700000" cy="700000"/>
          </a:xfrm>
          <a:prstGeom prst="roundRect">
            <a:avLst>
              <a:gd fmla="val 50000" name="adj"/>
            </a:avLst>
          </a:prstGeom>
          <a:solidFill>
            <a:srgbClr val="E67E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5246000" y="1650000"/>
            <a:ext cx="7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200000" spcFirstLastPara="1" rIns="200000" wrap="square" tIns="180000">
            <a:normAutofit fontScale="7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b="1" lang="ja-JP" sz="2800">
                <a:solidFill>
                  <a:srgbClr val="FFFFFF"/>
                </a:solidFill>
              </a:rPr>
              <a:t>0</a:t>
            </a:r>
            <a:r>
              <a:rPr b="1" i="0" lang="ja-JP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300000" y="2550000"/>
            <a:ext cx="11592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6000"/>
              <a:buFont typeface="Arial"/>
              <a:buNone/>
            </a:pPr>
            <a:r>
              <a:rPr b="1" i="0" lang="ja-JP" sz="6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業界の現状と課題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300000" y="3900000"/>
            <a:ext cx="11592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2600"/>
              <a:buFont typeface="Arial"/>
              <a:buNone/>
            </a:pPr>
            <a:r>
              <a:rPr b="0" i="0" lang="ja-JP" sz="2600" u="none" cap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現状データ・ユーザーが感じているペインポイント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2000" y="6204667"/>
            <a:ext cx="800000" cy="5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/>
        </p:nvSpPr>
        <p:spPr>
          <a:xfrm>
            <a:off x="300000" y="200000"/>
            <a:ext cx="11592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400"/>
              <a:buFont typeface="Arial"/>
              <a:buNone/>
            </a:pPr>
            <a:r>
              <a:rPr b="1" i="0" lang="ja-JP" sz="44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02　業界の現状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00000" y="990000"/>
            <a:ext cx="11592000" cy="25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00000" y="1090000"/>
            <a:ext cx="2823000" cy="1700000"/>
          </a:xfrm>
          <a:prstGeom prst="roundRect">
            <a:avLst>
              <a:gd fmla="val 15000" name="adj"/>
            </a:avLst>
          </a:prstGeom>
          <a:solidFill>
            <a:srgbClr val="D6EAF8"/>
          </a:solidFill>
          <a:ln cap="flat" cmpd="sng" w="9525">
            <a:solidFill>
              <a:srgbClr val="85C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380000" y="1090000"/>
            <a:ext cx="2663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3000"/>
              <a:buFont typeface="Arial"/>
              <a:buNone/>
            </a:pPr>
            <a:r>
              <a:rPr b="1" i="0" lang="ja-JP" sz="3000" u="none" cap="none" strike="noStrike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48.5万組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700"/>
              <a:buFont typeface="Arial"/>
              <a:buNone/>
            </a:pPr>
            <a:r>
              <a:rPr b="0" i="0" lang="ja-JP" sz="17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2024年婚姻件数（ピーク比-56%）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223000" y="1090000"/>
            <a:ext cx="2823000" cy="1700000"/>
          </a:xfrm>
          <a:prstGeom prst="roundRect">
            <a:avLst>
              <a:gd fmla="val 15000" name="adj"/>
            </a:avLst>
          </a:prstGeom>
          <a:solidFill>
            <a:srgbClr val="D5F5E3"/>
          </a:solidFill>
          <a:ln cap="flat" cmpd="sng" w="9525">
            <a:solidFill>
              <a:srgbClr val="82E0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3303000" y="1090000"/>
            <a:ext cx="2663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3000"/>
              <a:buFont typeface="Arial"/>
              <a:buNone/>
            </a:pPr>
            <a:r>
              <a:rPr b="1" i="0" lang="ja-JP" sz="30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74.4%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700"/>
              <a:buFont typeface="Arial"/>
              <a:buNone/>
            </a:pPr>
            <a:r>
              <a:rPr b="0" i="0" lang="ja-JP" sz="17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フォト婚実施率（過去最高）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146000" y="1090000"/>
            <a:ext cx="2823000" cy="1700000"/>
          </a:xfrm>
          <a:prstGeom prst="roundRect">
            <a:avLst>
              <a:gd fmla="val 15000" name="adj"/>
            </a:avLst>
          </a:prstGeom>
          <a:solidFill>
            <a:srgbClr val="FEF9E7"/>
          </a:solidFill>
          <a:ln cap="flat" cmpd="sng" w="9525">
            <a:solidFill>
              <a:srgbClr val="F9C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6226000" y="1090000"/>
            <a:ext cx="2663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6608"/>
              </a:buClr>
              <a:buSzPts val="3000"/>
              <a:buFont typeface="Arial"/>
              <a:buNone/>
            </a:pPr>
            <a:r>
              <a:rPr b="1" i="0" lang="ja-JP" sz="3000" u="none" cap="none" strike="noStrike">
                <a:solidFill>
                  <a:srgbClr val="7D6608"/>
                </a:solidFill>
                <a:latin typeface="Arial"/>
                <a:ea typeface="Arial"/>
                <a:cs typeface="Arial"/>
                <a:sym typeface="Arial"/>
              </a:rPr>
              <a:t>1,025億円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700"/>
              <a:buFont typeface="Arial"/>
              <a:buNone/>
            </a:pPr>
            <a:r>
              <a:rPr b="0" i="0" lang="ja-JP" sz="17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フォト婚市場規模推計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9069000" y="1090000"/>
            <a:ext cx="2823000" cy="1700000"/>
          </a:xfrm>
          <a:prstGeom prst="roundRect">
            <a:avLst>
              <a:gd fmla="val 15000" name="adj"/>
            </a:avLst>
          </a:prstGeom>
          <a:solidFill>
            <a:srgbClr val="FDEDEC"/>
          </a:solidFill>
          <a:ln cap="flat" cmpd="sng" w="9525">
            <a:solidFill>
              <a:srgbClr val="F19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9149000" y="1090000"/>
            <a:ext cx="2663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2B21"/>
              </a:buClr>
              <a:buSzPts val="3000"/>
              <a:buFont typeface="Arial"/>
              <a:buNone/>
            </a:pPr>
            <a:r>
              <a:rPr b="1" i="0" lang="ja-JP" sz="3000" u="none" cap="none" strike="noStrike">
                <a:solidFill>
                  <a:srgbClr val="922B21"/>
                </a:solidFill>
                <a:latin typeface="Arial"/>
                <a:ea typeface="Arial"/>
                <a:cs typeface="Arial"/>
                <a:sym typeface="Arial"/>
              </a:rPr>
              <a:t>28.4万円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700"/>
              <a:buFont typeface="Arial"/>
              <a:buNone/>
            </a:pPr>
            <a:r>
              <a:rPr b="0" i="0" lang="ja-JP" sz="17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フォト婚平均費用（年々増加）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00000" y="2870000"/>
            <a:ext cx="11592000" cy="33300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520000" y="3030000"/>
            <a:ext cx="11152000" cy="3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Arial"/>
              <a:buNone/>
            </a:pPr>
            <a:r>
              <a:rPr b="1" i="0" lang="ja-JP" sz="26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業界が直面している構造的変化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1A3A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00" lvl="0" marL="3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300"/>
              <a:buFont typeface="Arial"/>
              <a:buChar char="&gt;"/>
            </a:pPr>
            <a:r>
              <a:rPr b="0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少子化・晩婚化・未婚率上昇により婚礼件数は長期的な減少基調が続いている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00" lvl="0" marL="3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300"/>
              <a:buFont typeface="Arial"/>
              <a:buChar char="&gt;"/>
            </a:pPr>
            <a:r>
              <a:rPr b="0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コロナ禍を経てフォト婚・少人数婚が「新スタンダード」として定着し始めた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00" lvl="0" marL="3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300"/>
              <a:buFont typeface="Arial"/>
              <a:buChar char="&gt;"/>
            </a:pPr>
            <a:r>
              <a:rPr b="0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市場は全体縮小傾向でも、フォト婚セグメントは拡大・高単価化が進んでいる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00" lvl="0" marL="3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300"/>
              <a:buFont typeface="Arial"/>
              <a:buChar char="&gt;"/>
            </a:pPr>
            <a:r>
              <a:rPr b="0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人材不足・アナログ業務・費用の不透明性という業界課題が長年にわたって未解決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2000" y="6204667"/>
            <a:ext cx="800000" cy="5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/>
          <p:nvPr/>
        </p:nvSpPr>
        <p:spPr>
          <a:xfrm>
            <a:off x="300000" y="200000"/>
            <a:ext cx="11592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400"/>
              <a:buFont typeface="Arial"/>
              <a:buNone/>
            </a:pPr>
            <a:r>
              <a:rPr b="1" i="0" lang="ja-JP" sz="44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02　ユーザーが感じる課題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00000" y="990000"/>
            <a:ext cx="11592000" cy="25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00000" y="1090000"/>
            <a:ext cx="5746000" cy="2100000"/>
          </a:xfrm>
          <a:prstGeom prst="roundRect">
            <a:avLst>
              <a:gd fmla="val 18000" name="adj"/>
            </a:avLst>
          </a:prstGeom>
          <a:solidFill>
            <a:srgbClr val="FDEDE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520000" y="1250000"/>
            <a:ext cx="5306000" cy="1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2B21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922B21"/>
                </a:solidFill>
                <a:latin typeface="Arial"/>
                <a:ea typeface="Arial"/>
                <a:cs typeface="Arial"/>
                <a:sym typeface="Arial"/>
              </a:rPr>
              <a:t>[!]  情報の分散</a:t>
            </a:r>
            <a:endParaRPr b="1" i="0" sz="2400" u="none" cap="none" strike="noStrike">
              <a:solidFill>
                <a:srgbClr val="922B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000"/>
              <a:buFont typeface="Arial"/>
              <a:buNone/>
            </a:pPr>
            <a:r>
              <a:rPr b="1" i="0" lang="ja-JP" sz="2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情報が分散、一カ所でまとまらない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00"/>
              <a:buFont typeface="Arial"/>
              <a:buNone/>
            </a:pPr>
            <a:r>
              <a:rPr b="0" i="0" lang="ja-JP" sz="19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場所・カメラマン・衣装をそれぞれ別サービスで検索・問い合わせ・日程調整する手間が大きい。利用者の最大の不満ポイント。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146000" y="1090000"/>
            <a:ext cx="5746000" cy="2100000"/>
          </a:xfrm>
          <a:prstGeom prst="roundRect">
            <a:avLst>
              <a:gd fmla="val 18000" name="adj"/>
            </a:avLst>
          </a:prstGeom>
          <a:solidFill>
            <a:srgbClr val="FDEDE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6366000" y="1250000"/>
            <a:ext cx="5306000" cy="1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2B21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922B21"/>
                </a:solidFill>
                <a:latin typeface="Arial"/>
                <a:ea typeface="Arial"/>
                <a:cs typeface="Arial"/>
                <a:sym typeface="Arial"/>
              </a:rPr>
              <a:t>[!]  営業時間の壁</a:t>
            </a:r>
            <a:endParaRPr b="1" i="0" sz="2400" u="none" cap="none" strike="noStrike">
              <a:solidFill>
                <a:srgbClr val="922B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000"/>
              <a:buFont typeface="Arial"/>
              <a:buNone/>
            </a:pPr>
            <a:r>
              <a:rPr b="1" i="0" lang="ja-JP" sz="2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電話・来店が必要で夜間対応ゼロ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00"/>
              <a:buFont typeface="Arial"/>
              <a:buNone/>
            </a:pPr>
            <a:r>
              <a:rPr b="0" i="0" lang="ja-JP" sz="19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電話苦手な20代・夜勤明けの30代が多く、営業時間外に調べても問い合わせができない。機会損失が大きい。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00000" y="3270000"/>
            <a:ext cx="5746000" cy="2100000"/>
          </a:xfrm>
          <a:prstGeom prst="roundRect">
            <a:avLst>
              <a:gd fmla="val 18000" name="adj"/>
            </a:avLst>
          </a:prstGeom>
          <a:solidFill>
            <a:srgbClr val="FDEDE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20000" y="3430000"/>
            <a:ext cx="5306000" cy="1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2B21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922B21"/>
                </a:solidFill>
                <a:latin typeface="Arial"/>
                <a:ea typeface="Arial"/>
                <a:cs typeface="Arial"/>
                <a:sym typeface="Arial"/>
              </a:rPr>
              <a:t>[!]  費用の不透明感</a:t>
            </a:r>
            <a:endParaRPr b="1" i="0" sz="2400" u="none" cap="none" strike="noStrike">
              <a:solidFill>
                <a:srgbClr val="922B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000"/>
              <a:buFont typeface="Arial"/>
              <a:buNone/>
            </a:pPr>
            <a:r>
              <a:rPr b="1" i="0" lang="ja-JP" sz="2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費用が最後まで見えない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00"/>
              <a:buFont typeface="Arial"/>
              <a:buNone/>
            </a:pPr>
            <a:r>
              <a:rPr b="0" i="0" lang="ja-JP" sz="19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初回見積もりが低く追加費用が積み重なる慣行。「最終的にいくらかかるか分からない」という不安が購買意欲を大きく妨げる。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146000" y="3270000"/>
            <a:ext cx="5746000" cy="2100000"/>
          </a:xfrm>
          <a:prstGeom prst="roundRect">
            <a:avLst>
              <a:gd fmla="val 18000" name="adj"/>
            </a:avLst>
          </a:prstGeom>
          <a:solidFill>
            <a:srgbClr val="FDEDE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6366000" y="3430000"/>
            <a:ext cx="5306000" cy="1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2B21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922B21"/>
                </a:solidFill>
                <a:latin typeface="Arial"/>
                <a:ea typeface="Arial"/>
                <a:cs typeface="Arial"/>
                <a:sym typeface="Arial"/>
              </a:rPr>
              <a:t>[!]  日程調整の手間</a:t>
            </a:r>
            <a:endParaRPr b="1" i="0" sz="2400" u="none" cap="none" strike="noStrike">
              <a:solidFill>
                <a:srgbClr val="922B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000"/>
              <a:buFont typeface="Arial"/>
              <a:buNone/>
            </a:pPr>
            <a:r>
              <a:rPr b="1" i="0" lang="ja-JP" sz="2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日程調整が3者間で複雑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00"/>
              <a:buFont typeface="Arial"/>
              <a:buNone/>
            </a:pPr>
            <a:r>
              <a:rPr b="0" i="0" lang="ja-JP" sz="19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ロケーション・カメラマン・衣装の空きを手動で合わせる作業が煩雑。休日が少ない共働きカップルへの負担が特に大きい。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00000" y="5450000"/>
            <a:ext cx="11592000" cy="720000"/>
          </a:xfrm>
          <a:prstGeom prst="roundRect">
            <a:avLst>
              <a:gd fmla="val 15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520000" y="5450000"/>
            <a:ext cx="11152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これら4つの課題を「1つのシステム」で同時解決するのが私たちの提案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2000" y="6204667"/>
            <a:ext cx="800000" cy="5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8F5">
              <a:alpha val="39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246000" y="1650000"/>
            <a:ext cx="700000" cy="700000"/>
          </a:xfrm>
          <a:prstGeom prst="roundRect">
            <a:avLst>
              <a:gd fmla="val 50000" name="adj"/>
            </a:avLst>
          </a:prstGeom>
          <a:solidFill>
            <a:srgbClr val="1A8F6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5246000" y="1650000"/>
            <a:ext cx="7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200000" spcFirstLastPara="1" rIns="200000" wrap="square" tIns="180000">
            <a:normAutofit fontScale="7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b="1" lang="ja-JP" sz="2800">
                <a:solidFill>
                  <a:srgbClr val="FFFFFF"/>
                </a:solidFill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300000" y="2550000"/>
            <a:ext cx="11592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6000"/>
              <a:buFont typeface="Arial"/>
              <a:buNone/>
            </a:pPr>
            <a:r>
              <a:rPr b="1" i="0" lang="ja-JP" sz="6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システム案の提案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300000" y="3900000"/>
            <a:ext cx="11592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8F6F"/>
              </a:buClr>
              <a:buSzPts val="2600"/>
              <a:buFont typeface="Arial"/>
              <a:buNone/>
            </a:pPr>
            <a:r>
              <a:rPr b="0" i="0" lang="ja-JP" sz="2600" u="none" cap="none" strike="noStrike">
                <a:solidFill>
                  <a:srgbClr val="1A8F6F"/>
                </a:solidFill>
                <a:latin typeface="Arial"/>
                <a:ea typeface="Arial"/>
                <a:cs typeface="Arial"/>
                <a:sym typeface="Arial"/>
              </a:rPr>
              <a:t>フォト婚オールインワンプラットフォーム + AIプランナー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2000" y="6204667"/>
            <a:ext cx="800000" cy="5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/>
          <p:nvPr/>
        </p:nvSpPr>
        <p:spPr>
          <a:xfrm>
            <a:off x="300000" y="200000"/>
            <a:ext cx="11592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400"/>
              <a:buFont typeface="Arial"/>
              <a:buNone/>
            </a:pPr>
            <a:r>
              <a:rPr b="1" i="0" lang="ja-JP" sz="44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03　システム概要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300000" y="990000"/>
            <a:ext cx="11592000" cy="25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300000" y="1090000"/>
            <a:ext cx="11592000" cy="560000"/>
          </a:xfrm>
          <a:prstGeom prst="roundRect">
            <a:avLst>
              <a:gd fmla="val 12000" name="adj"/>
            </a:avLst>
          </a:prstGeom>
          <a:solidFill>
            <a:srgbClr val="EAF4FB"/>
          </a:solidFill>
          <a:ln cap="flat" cmpd="sng" w="9525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480000" y="1170000"/>
            <a:ext cx="11232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88"/>
              <a:buFont typeface="Arial"/>
              <a:buNone/>
            </a:pPr>
            <a:r>
              <a:rPr b="0" i="0" lang="ja-JP" sz="805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ターゲット：20代後半〜30代前半の共働きカップル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300000" y="1730000"/>
            <a:ext cx="3797333" cy="3600000"/>
          </a:xfrm>
          <a:prstGeom prst="roundRect">
            <a:avLst>
              <a:gd fmla="val 18000" name="adj"/>
            </a:avLst>
          </a:prstGeom>
          <a:solidFill>
            <a:srgbClr val="D6EA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520000" y="1890000"/>
            <a:ext cx="3357333" cy="3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2800"/>
              <a:buFont typeface="Arial"/>
              <a:buNone/>
            </a:pPr>
            <a:r>
              <a:rPr b="1" i="0" lang="ja-JP" sz="2800" u="none" cap="none" strike="noStrike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[場所]  場所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300"/>
              <a:buFont typeface="Arial"/>
              <a:buNone/>
            </a:pPr>
            <a:r>
              <a:rPr b="1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ロケーション</a:t>
            </a:r>
            <a:r>
              <a:rPr b="1" lang="ja-JP" sz="2300">
                <a:solidFill>
                  <a:srgbClr val="1A3A5C"/>
                </a:solidFill>
              </a:rPr>
              <a:t>提案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自然・都市・スタジオなど雰囲気別で検索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地図表示・空き状況リアルタイム確認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許可取得済みスポット一覧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197333" y="1730000"/>
            <a:ext cx="3797333" cy="3600000"/>
          </a:xfrm>
          <a:prstGeom prst="roundRect">
            <a:avLst>
              <a:gd fmla="val 18000" name="adj"/>
            </a:avLst>
          </a:prstGeom>
          <a:solidFill>
            <a:srgbClr val="E8DA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4417333" y="1890000"/>
            <a:ext cx="3357333" cy="3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3483"/>
              </a:buClr>
              <a:buSzPts val="2800"/>
              <a:buFont typeface="Arial"/>
              <a:buNone/>
            </a:pPr>
            <a:r>
              <a:rPr b="1" i="0" lang="ja-JP" sz="2800" u="none" cap="none" strike="noStrike">
                <a:solidFill>
                  <a:srgbClr val="6C3483"/>
                </a:solidFill>
                <a:latin typeface="Arial"/>
                <a:ea typeface="Arial"/>
                <a:cs typeface="Arial"/>
                <a:sym typeface="Arial"/>
              </a:rPr>
              <a:t>[撮影]  カメラマン</a:t>
            </a:r>
            <a:endParaRPr b="1" i="0" sz="2800" u="none" cap="none" strike="noStrike">
              <a:solidFill>
                <a:srgbClr val="6C348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300"/>
              <a:buFont typeface="Arial"/>
              <a:buNone/>
            </a:pPr>
            <a:r>
              <a:rPr b="1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カメラマン</a:t>
            </a:r>
            <a:r>
              <a:rPr b="1" lang="ja-JP" sz="2300">
                <a:solidFill>
                  <a:srgbClr val="1A3A5C"/>
                </a:solidFill>
              </a:rPr>
              <a:t>提案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スタイル別フィルタ（ナチュラル/アート系等）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ポートフォリオ・口コミ閲覧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担当固定制・空き即時確認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094666" y="1730000"/>
            <a:ext cx="3797333" cy="3600000"/>
          </a:xfrm>
          <a:prstGeom prst="roundRect">
            <a:avLst>
              <a:gd fmla="val 18000" name="adj"/>
            </a:avLst>
          </a:prstGeom>
          <a:solidFill>
            <a:srgbClr val="FDEBD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8314666" y="1890000"/>
            <a:ext cx="3357333" cy="3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4212"/>
              </a:buClr>
              <a:buSzPts val="2800"/>
              <a:buFont typeface="Arial"/>
              <a:buNone/>
            </a:pPr>
            <a:r>
              <a:rPr b="1" i="0" lang="ja-JP" sz="2800" u="none" cap="none" strike="noStrike">
                <a:solidFill>
                  <a:srgbClr val="784212"/>
                </a:solidFill>
                <a:latin typeface="Arial"/>
                <a:ea typeface="Arial"/>
                <a:cs typeface="Arial"/>
                <a:sym typeface="Arial"/>
              </a:rPr>
              <a:t>[衣装]  衣装</a:t>
            </a:r>
            <a:endParaRPr b="1" i="0" sz="2800" u="none" cap="none" strike="noStrike">
              <a:solidFill>
                <a:srgbClr val="784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300"/>
              <a:buFont typeface="Arial"/>
              <a:buNone/>
            </a:pPr>
            <a:r>
              <a:rPr b="1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衣装</a:t>
            </a:r>
            <a:r>
              <a:rPr b="1" lang="ja-JP" sz="2300">
                <a:solidFill>
                  <a:srgbClr val="1A3A5C"/>
                </a:solidFill>
              </a:rPr>
              <a:t>提案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ドレス・和装・カジュアル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サイズ・カラー在庫オンライン確認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セット割引で衣装+小物まとめて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00000" y="5450000"/>
            <a:ext cx="11592000" cy="720000"/>
          </a:xfrm>
          <a:prstGeom prst="roundRect">
            <a:avLst>
              <a:gd fmla="val 15000" name="adj"/>
            </a:avLst>
          </a:prstGeom>
          <a:solidFill>
            <a:srgbClr val="1A52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520000" y="5450000"/>
            <a:ext cx="11152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3つのモジュールを1サービスに統合。全額リアルタイム表示でスマホだけで予約まで完結できる設計。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2000" y="6204667"/>
            <a:ext cx="800000" cy="5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/>
        </p:nvSpPr>
        <p:spPr>
          <a:xfrm>
            <a:off x="300000" y="200000"/>
            <a:ext cx="11592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400"/>
              <a:buFont typeface="Arial"/>
              <a:buNone/>
            </a:pPr>
            <a:r>
              <a:rPr b="1" i="0" lang="ja-JP" sz="44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03　AIプランナー「ハナ」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300000" y="990000"/>
            <a:ext cx="11592000" cy="25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300000" y="1090000"/>
            <a:ext cx="11592000" cy="640000"/>
          </a:xfrm>
          <a:prstGeom prst="roundRect">
            <a:avLst>
              <a:gd fmla="val 15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520000" y="1090000"/>
            <a:ext cx="11152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200000" spcFirstLastPara="1" rIns="200000" wrap="square" tIns="1800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Arial"/>
              <a:buNone/>
            </a:pPr>
            <a:r>
              <a:rPr b="1" i="0" lang="ja-JP" sz="21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従来：プランナーに電話・来店が必要  </a:t>
            </a:r>
            <a:endParaRPr b="1" i="0" sz="214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Arial"/>
              <a:buNone/>
            </a:pPr>
            <a:r>
              <a:rPr b="1" i="0" lang="ja-JP" sz="21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 AIプランナーで24時間・サイト内完結</a:t>
            </a:r>
            <a:endParaRPr b="0" i="0" sz="16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300000" y="1830000"/>
            <a:ext cx="3797333" cy="2160000"/>
          </a:xfrm>
          <a:prstGeom prst="roundRect">
            <a:avLst>
              <a:gd fmla="val 18000" name="adj"/>
            </a:avLst>
          </a:prstGeom>
          <a:solidFill>
            <a:srgbClr val="D6EA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520000" y="1990000"/>
            <a:ext cx="3357333" cy="1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ct val="100000"/>
              <a:buFont typeface="Arial"/>
              <a:buNone/>
            </a:pPr>
            <a:r>
              <a:rPr b="1" i="0" lang="ja-JP" sz="2800" u="none" cap="none" strike="noStrike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[相談]  チャット相談</a:t>
            </a:r>
            <a:endParaRPr b="1" i="0" sz="2800" u="none" cap="none" strike="noStrike">
              <a:solidFill>
                <a:srgbClr val="1A527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1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ヒアリング＆プラン提案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「森ロケ・オフホワイトドレス・予算30万」など自然言語で入力するだけでプランを自動生成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197333" y="1830000"/>
            <a:ext cx="3797333" cy="2160000"/>
          </a:xfrm>
          <a:prstGeom prst="roundRect">
            <a:avLst>
              <a:gd fmla="val 18000" name="adj"/>
            </a:avLst>
          </a:prstGeom>
          <a:solidFill>
            <a:srgbClr val="D6EA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4417333" y="1990000"/>
            <a:ext cx="3357333" cy="1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ct val="100000"/>
              <a:buFont typeface="Arial"/>
              <a:buNone/>
            </a:pPr>
            <a:r>
              <a:rPr b="1" i="0" lang="ja-JP" sz="2800" u="none" cap="none" strike="noStrike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[費用]  費用の透明化</a:t>
            </a:r>
            <a:endParaRPr b="1" i="0" sz="2800" u="none" cap="none" strike="noStrike">
              <a:solidFill>
                <a:srgbClr val="1A527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1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費用シミュレーション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選択のたびに総額がリアルタイム更新。追加費用ゼロの料金体系で「後から高くなった」問題を解消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8094666" y="1830000"/>
            <a:ext cx="3797333" cy="2160000"/>
          </a:xfrm>
          <a:prstGeom prst="roundRect">
            <a:avLst>
              <a:gd fmla="val 18000" name="adj"/>
            </a:avLst>
          </a:prstGeom>
          <a:solidFill>
            <a:srgbClr val="D6EA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8314666" y="1990000"/>
            <a:ext cx="3357333" cy="1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fontScale="77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ct val="100000"/>
              <a:buFont typeface="Arial"/>
              <a:buNone/>
            </a:pPr>
            <a:r>
              <a:rPr b="1" i="0" lang="ja-JP" sz="2800" u="none" cap="none" strike="noStrike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[日程]  日程調整自動化</a:t>
            </a:r>
            <a:endParaRPr b="1" i="0" sz="2800" u="none" cap="none" strike="noStrike">
              <a:solidFill>
                <a:srgbClr val="1A527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1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スケジュール最適化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ロケ・カメラマン・衣装の3者の空き日程を自動照合し、最適な撮影日程を即時提案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00000" y="4070000"/>
            <a:ext cx="3797333" cy="2110000"/>
          </a:xfrm>
          <a:prstGeom prst="roundRect">
            <a:avLst>
              <a:gd fmla="val 18000" name="adj"/>
            </a:avLst>
          </a:prstGeom>
          <a:solidFill>
            <a:srgbClr val="EAFAF1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520000" y="4230000"/>
            <a:ext cx="3357333" cy="17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fontScale="77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ct val="100000"/>
              <a:buFont typeface="Arial"/>
              <a:buNone/>
            </a:pPr>
            <a:r>
              <a:rPr b="1" i="0" lang="ja-JP" sz="28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[診断]  ビジュアル診断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1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イメージ診断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SNS写真やムードボードを入力するとAIが雰囲気を解析。ロケ・衣装・カメラマンを自動マッチング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197333" y="4070000"/>
            <a:ext cx="3797333" cy="2110000"/>
          </a:xfrm>
          <a:prstGeom prst="roundRect">
            <a:avLst>
              <a:gd fmla="val 18000" name="adj"/>
            </a:avLst>
          </a:prstGeom>
          <a:solidFill>
            <a:srgbClr val="EAFAF1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4417333" y="4230000"/>
            <a:ext cx="3357333" cy="17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fontScale="77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ct val="100000"/>
              <a:buFont typeface="Arial"/>
              <a:buNone/>
            </a:pPr>
            <a:r>
              <a:rPr b="1" i="0" lang="ja-JP" sz="28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[通知]  準備サポート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1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準備リマインド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撮影日から逆算してToDoを自動生成。ヘアメイク予約・持ち物リストをプッシュ通知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8094666" y="4070000"/>
            <a:ext cx="3797333" cy="2110000"/>
          </a:xfrm>
          <a:prstGeom prst="roundRect">
            <a:avLst>
              <a:gd fmla="val 18000" name="adj"/>
            </a:avLst>
          </a:prstGeom>
          <a:solidFill>
            <a:srgbClr val="EAFAF1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8314666" y="4230000"/>
            <a:ext cx="3357333" cy="17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fontScale="77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ct val="100000"/>
              <a:buFont typeface="Arial"/>
              <a:buNone/>
            </a:pPr>
            <a:r>
              <a:rPr b="1" i="0" lang="ja-JP" sz="28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[?]  FAQ自動応答</a:t>
            </a:r>
            <a:endParaRPr b="1" i="0" sz="2800" u="none" cap="none" strike="noStrike">
              <a:solidFill>
                <a:srgbClr val="1E844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1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FAQ対応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0" i="0" lang="ja-JP" sz="22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「雨の場合は？」「ゲストを呼べる？」などの疑問をいつでも即解決。有人対応を原則不要にする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2000" y="6204667"/>
            <a:ext cx="800000" cy="5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 txBox="1"/>
          <p:nvPr/>
        </p:nvSpPr>
        <p:spPr>
          <a:xfrm>
            <a:off x="300000" y="200000"/>
            <a:ext cx="11592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400"/>
              <a:buFont typeface="Arial"/>
              <a:buNone/>
            </a:pPr>
            <a:r>
              <a:rPr b="1" i="0" lang="ja-JP" sz="44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03　システムで解決できること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300000" y="990000"/>
            <a:ext cx="11592000" cy="25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300000" y="1090000"/>
            <a:ext cx="5746000" cy="2100000"/>
          </a:xfrm>
          <a:prstGeom prst="roundRect">
            <a:avLst>
              <a:gd fmla="val 18000" name="adj"/>
            </a:avLst>
          </a:prstGeom>
          <a:solidFill>
            <a:srgbClr val="EAFAF1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520000" y="1250000"/>
            <a:ext cx="5306000" cy="1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ct val="100000"/>
              <a:buFont typeface="Arial"/>
              <a:buNone/>
            </a:pPr>
            <a:r>
              <a:rPr b="1" i="0" lang="ja-JP" sz="24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[完]  解決①  情報の分散</a:t>
            </a:r>
            <a:endParaRPr b="1" i="0" sz="2400" u="none" cap="none" strike="noStrike">
              <a:solidFill>
                <a:srgbClr val="1E844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1" i="0" lang="ja-JP" sz="2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場所・カメラマン・衣装を1サービスで一元予約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0" i="0" lang="ja-JP" sz="19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手間ゼロ、複数サービス掛け持ち不要になる。ユーザーがバラバラに調べる時間を丸ごと削減できる。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146000" y="1090000"/>
            <a:ext cx="5746000" cy="2100000"/>
          </a:xfrm>
          <a:prstGeom prst="roundRect">
            <a:avLst>
              <a:gd fmla="val 18000" name="adj"/>
            </a:avLst>
          </a:prstGeom>
          <a:solidFill>
            <a:srgbClr val="EAFAF1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6366000" y="1250000"/>
            <a:ext cx="5306000" cy="1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[完]  解決②  夜間・非同期</a:t>
            </a:r>
            <a:endParaRPr b="1" i="0" sz="2400" u="none" cap="none" strike="noStrike">
              <a:solidFill>
                <a:srgbClr val="1E844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000"/>
              <a:buFont typeface="Arial"/>
              <a:buNone/>
            </a:pPr>
            <a:r>
              <a:rPr b="1" i="0" lang="ja-JP" sz="2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AIが24時間対応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00"/>
              <a:buFont typeface="Arial"/>
              <a:buNone/>
            </a:pPr>
            <a:r>
              <a:rPr b="0" i="0" lang="ja-JP" sz="19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電話・来店不要。深夜の検討中にそのまま予約完了できる体験を実現。機会損失をゼロにする。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00000" y="3270000"/>
            <a:ext cx="5746000" cy="2100000"/>
          </a:xfrm>
          <a:prstGeom prst="roundRect">
            <a:avLst>
              <a:gd fmla="val 18000" name="adj"/>
            </a:avLst>
          </a:prstGeom>
          <a:solidFill>
            <a:srgbClr val="EAFAF1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520000" y="3430000"/>
            <a:ext cx="5306000" cy="1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[完]  解決③  費用の不透明感</a:t>
            </a:r>
            <a:endParaRPr b="1" i="0" sz="2400" u="none" cap="none" strike="noStrike">
              <a:solidFill>
                <a:srgbClr val="1E844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000"/>
              <a:buFont typeface="Arial"/>
              <a:buNone/>
            </a:pPr>
            <a:r>
              <a:rPr b="1" i="0" lang="ja-JP" sz="2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リアルタイム費用シミュレーター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00"/>
              <a:buFont typeface="Arial"/>
              <a:buNone/>
            </a:pPr>
            <a:r>
              <a:rPr b="0" i="0" lang="ja-JP" sz="19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選択のたびに総額が更新。追加費用ゼロを保証し、安心して申し込める環境を作る。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146000" y="3270000"/>
            <a:ext cx="5746000" cy="2100000"/>
          </a:xfrm>
          <a:prstGeom prst="roundRect">
            <a:avLst>
              <a:gd fmla="val 18000" name="adj"/>
            </a:avLst>
          </a:prstGeom>
          <a:solidFill>
            <a:srgbClr val="EAFAF1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6366000" y="3430000"/>
            <a:ext cx="5306000" cy="1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[完]  解決④  日程調整の複雑さ</a:t>
            </a:r>
            <a:endParaRPr b="1" i="0" sz="2400" u="none" cap="none" strike="noStrike">
              <a:solidFill>
                <a:srgbClr val="1E844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000"/>
              <a:buFont typeface="Arial"/>
              <a:buNone/>
            </a:pPr>
            <a:r>
              <a:rPr b="1" i="0" lang="ja-JP" sz="20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3者の空き日程AI自動照合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00"/>
              <a:buFont typeface="Arial"/>
              <a:buNone/>
            </a:pPr>
            <a:r>
              <a:rPr b="0" i="0" lang="ja-JP" sz="19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候補日を即提示し、何度も確認し合う往復メールをゼロにする。共働きカップルの時間を守る。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300000" y="5450000"/>
            <a:ext cx="11592000" cy="720000"/>
          </a:xfrm>
          <a:prstGeom prst="roundRect">
            <a:avLst>
              <a:gd fmla="val 15000" name="adj"/>
            </a:avLst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520000" y="5450000"/>
            <a:ext cx="11152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スマホで調べて、そのまま深夜に全部予約完了できる体験をユーザーに届ける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2000" y="6204667"/>
            <a:ext cx="800000" cy="5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 txBox="1"/>
          <p:nvPr/>
        </p:nvSpPr>
        <p:spPr>
          <a:xfrm>
            <a:off x="300000" y="200000"/>
            <a:ext cx="11592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400"/>
              <a:buFont typeface="Arial"/>
              <a:buNone/>
            </a:pPr>
            <a:r>
              <a:rPr b="1" i="0" lang="ja-JP" sz="44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期待される効果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300000" y="990000"/>
            <a:ext cx="11592000" cy="25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476125" y="1048350"/>
            <a:ext cx="5745900" cy="25848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696125" y="1181333"/>
            <a:ext cx="5306100" cy="25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None/>
            </a:pPr>
            <a:r>
              <a:rPr b="1" i="0" lang="ja-JP" sz="26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ユーザー側のメリット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1A3A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046" lvl="0" marL="3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Char char="&gt;"/>
            </a:pPr>
            <a:r>
              <a:rPr b="0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手間ゼロ：1サービスで全ての</a:t>
            </a:r>
            <a:br>
              <a:rPr b="0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予約を一気に完了できる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046" lvl="0" marL="3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Char char="&gt;"/>
            </a:pPr>
            <a:r>
              <a:rPr b="0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安心感：AIが費用を全額表示</a:t>
            </a:r>
            <a:br>
              <a:rPr lang="ja-JP" sz="2300">
                <a:solidFill>
                  <a:srgbClr val="1A3A5C"/>
                </a:solidFill>
              </a:rPr>
            </a:br>
            <a:r>
              <a:rPr b="0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追加費用の不安ゼロ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046" lvl="0" marL="3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ct val="100000"/>
              <a:buFont typeface="Arial"/>
              <a:buChar char="&gt;"/>
            </a:pPr>
            <a:r>
              <a:rPr b="0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自由度：深夜でも相談・予約</a:t>
            </a:r>
            <a:br>
              <a:rPr b="0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-JP" sz="23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できる、仕事に合わせて動ける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6322125" y="1048350"/>
            <a:ext cx="5745900" cy="25848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6542125" y="1181333"/>
            <a:ext cx="5306100" cy="25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Arial"/>
              <a:buNone/>
            </a:pPr>
            <a:r>
              <a:rPr b="1" i="0" lang="ja-JP" sz="24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提供側（式場・業者）のメリット</a:t>
            </a:r>
            <a:endParaRPr b="1" i="0" sz="2400" u="none" cap="none" strike="noStrike">
              <a:solidFill>
                <a:srgbClr val="1A3A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300" lvl="0" marL="3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100"/>
              <a:buFont typeface="Arial"/>
              <a:buChar char="&gt;"/>
            </a:pPr>
            <a:r>
              <a:rPr b="0" i="0" lang="ja-JP" sz="21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業務効率化：プランナー稼働を</a:t>
            </a:r>
            <a:br>
              <a:rPr b="0" i="0" lang="ja-JP" sz="21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-JP" sz="21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削減しコスト低減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300" lvl="0" marL="3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100"/>
              <a:buFont typeface="Arial"/>
              <a:buChar char="&gt;"/>
            </a:pPr>
            <a:r>
              <a:rPr b="0" i="0" lang="ja-JP" sz="2100" u="none" cap="none" strike="noStrike">
                <a:solidFill>
                  <a:srgbClr val="1A3A5C"/>
                </a:solidFill>
                <a:latin typeface="Arial"/>
                <a:ea typeface="Arial"/>
                <a:cs typeface="Arial"/>
                <a:sym typeface="Arial"/>
              </a:rPr>
              <a:t>データ蓄積：行動データをCRMに集約し改善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2000" y="6324667"/>
            <a:ext cx="799999" cy="53333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2"/>
          <p:cNvSpPr/>
          <p:nvPr/>
        </p:nvSpPr>
        <p:spPr>
          <a:xfrm>
            <a:off x="464834" y="3766125"/>
            <a:ext cx="11267100" cy="8688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ja-JP" sz="2000">
                <a:solidFill>
                  <a:schemeClr val="dk1"/>
                </a:solidFill>
              </a:rPr>
              <a:t>思い出は残したいけど料金が...→AIプランナーを活用し限度額から逆算したプランを提案</a:t>
            </a:r>
            <a:endParaRPr b="1"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463122" y="4704498"/>
            <a:ext cx="11267100" cy="8688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ja-JP" sz="2000"/>
              <a:t>忙しくて予定を組んでいる時間が... →AIプランナーによる24時間対応</a:t>
            </a:r>
            <a:endParaRPr b="1" i="0" sz="2000" u="none" cap="none" strike="noStrike">
              <a:solidFill>
                <a:srgbClr val="000000"/>
              </a:solidFill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460056" y="5642863"/>
            <a:ext cx="11267100" cy="8688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ja-JP" sz="2000"/>
              <a:t>予定調整が面倒...→プランに合わせてAIがリマインダー作成</a:t>
            </a:r>
            <a:endParaRPr b="1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1000000" y="2800000"/>
            <a:ext cx="10192000" cy="25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300000" y="3000000"/>
            <a:ext cx="11592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ADE2"/>
              </a:buClr>
              <a:buSzPts val="7000"/>
              <a:buFont typeface="Arial"/>
              <a:buNone/>
            </a:pPr>
            <a:r>
              <a:rPr b="1" i="0" lang="ja-JP" sz="7000" u="none" cap="none" strike="noStrike">
                <a:solidFill>
                  <a:srgbClr val="5DADE2"/>
                </a:solidFill>
                <a:latin typeface="Arial"/>
                <a:ea typeface="Arial"/>
                <a:cs typeface="Arial"/>
                <a:sym typeface="Arial"/>
              </a:rPr>
              <a:t>質疑応答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300000" y="5100000"/>
            <a:ext cx="60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1700"/>
              <a:buFont typeface="Arial"/>
              <a:buNone/>
            </a:pPr>
            <a:r>
              <a:rPr b="0" i="0" lang="ja-JP" sz="1700" u="none" cap="none" strike="noStrike">
                <a:solidFill>
                  <a:srgbClr val="85C1E9"/>
                </a:solidFill>
                <a:latin typeface="Arial"/>
                <a:ea typeface="Arial"/>
                <a:cs typeface="Arial"/>
                <a:sym typeface="Arial"/>
              </a:rPr>
              <a:t>フォト婚</a:t>
            </a:r>
            <a:r>
              <a:rPr lang="ja-JP" sz="1500">
                <a:solidFill>
                  <a:schemeClr val="dk1"/>
                </a:solidFill>
              </a:rPr>
              <a:t> </a:t>
            </a:r>
            <a:r>
              <a:rPr lang="ja-JP" sz="1500">
                <a:solidFill>
                  <a:srgbClr val="85C1E9"/>
                </a:solidFill>
              </a:rPr>
              <a:t>コーディネート支援Webツール</a:t>
            </a:r>
            <a:r>
              <a:rPr b="0" i="0" lang="ja-JP" sz="1700" u="none" cap="none" strike="noStrike">
                <a:solidFill>
                  <a:srgbClr val="85C1E9"/>
                </a:solidFill>
                <a:latin typeface="Arial"/>
                <a:ea typeface="Arial"/>
                <a:cs typeface="Arial"/>
                <a:sym typeface="Arial"/>
              </a:rPr>
              <a:t>提案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300000" y="5750000"/>
            <a:ext cx="40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ADE2"/>
              </a:buClr>
              <a:buSzPts val="2600"/>
              <a:buFont typeface="Arial"/>
              <a:buNone/>
            </a:pPr>
            <a:r>
              <a:rPr b="1" i="0" lang="ja-JP" sz="2600" u="none" cap="none" strike="noStrike">
                <a:solidFill>
                  <a:srgbClr val="5DADE2"/>
                </a:solidFill>
                <a:latin typeface="Arial"/>
                <a:ea typeface="Arial"/>
                <a:cs typeface="Arial"/>
                <a:sym typeface="Arial"/>
              </a:rPr>
              <a:t>Creepy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2000" y="6204667"/>
            <a:ext cx="800000" cy="5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b6cad98c8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eb6cad98c8_0_0"/>
          <p:cNvSpPr txBox="1"/>
          <p:nvPr/>
        </p:nvSpPr>
        <p:spPr>
          <a:xfrm>
            <a:off x="300000" y="3105175"/>
            <a:ext cx="11592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i="0" lang="ja-JP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ご清聴ありがとうございました</a:t>
            </a:r>
            <a:r>
              <a:rPr b="1" lang="ja-JP" sz="5000">
                <a:solidFill>
                  <a:srgbClr val="FFFFFF"/>
                </a:solidFill>
              </a:rPr>
              <a:t>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eb6cad98c8_0_0"/>
          <p:cNvSpPr/>
          <p:nvPr/>
        </p:nvSpPr>
        <p:spPr>
          <a:xfrm>
            <a:off x="1000000" y="2800000"/>
            <a:ext cx="10191900" cy="249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eb6cad98c8_0_0"/>
          <p:cNvSpPr txBox="1"/>
          <p:nvPr/>
        </p:nvSpPr>
        <p:spPr>
          <a:xfrm>
            <a:off x="300000" y="5750000"/>
            <a:ext cx="39999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ADE2"/>
              </a:buClr>
              <a:buSzPts val="2600"/>
              <a:buFont typeface="Arial"/>
              <a:buNone/>
            </a:pPr>
            <a:r>
              <a:rPr b="1" i="0" lang="ja-JP" sz="2600" u="none" cap="none" strike="noStrike">
                <a:solidFill>
                  <a:srgbClr val="5DADE2"/>
                </a:solidFill>
                <a:latin typeface="Arial"/>
                <a:ea typeface="Arial"/>
                <a:cs typeface="Arial"/>
                <a:sym typeface="Arial"/>
              </a:rPr>
              <a:t>Creepy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g3eb6cad98c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2000" y="6204667"/>
            <a:ext cx="799999" cy="53333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eb6cad98c8_0_0"/>
          <p:cNvSpPr txBox="1"/>
          <p:nvPr/>
        </p:nvSpPr>
        <p:spPr>
          <a:xfrm>
            <a:off x="300000" y="5150000"/>
            <a:ext cx="60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200000" spcFirstLastPara="1" rIns="200000" wrap="square" tIns="1800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1700"/>
              <a:buFont typeface="Arial"/>
              <a:buNone/>
            </a:pPr>
            <a:r>
              <a:rPr b="0" i="0" lang="ja-JP" sz="1700" u="none" cap="none" strike="noStrike">
                <a:solidFill>
                  <a:srgbClr val="85C1E9"/>
                </a:solidFill>
                <a:latin typeface="Arial"/>
                <a:ea typeface="Arial"/>
                <a:cs typeface="Arial"/>
                <a:sym typeface="Arial"/>
              </a:rPr>
              <a:t>フォト婚</a:t>
            </a:r>
            <a:r>
              <a:rPr lang="ja-JP" sz="1500">
                <a:solidFill>
                  <a:schemeClr val="dk1"/>
                </a:solidFill>
              </a:rPr>
              <a:t> </a:t>
            </a:r>
            <a:r>
              <a:rPr lang="ja-JP" sz="1500">
                <a:solidFill>
                  <a:srgbClr val="85C1E9"/>
                </a:solidFill>
              </a:rPr>
              <a:t>コーディネート支援Webツール</a:t>
            </a:r>
            <a:r>
              <a:rPr b="0" i="0" lang="ja-JP" sz="1700" u="none" cap="none" strike="noStrike">
                <a:solidFill>
                  <a:srgbClr val="85C1E9"/>
                </a:solidFill>
                <a:latin typeface="Arial"/>
                <a:ea typeface="Arial"/>
                <a:cs typeface="Arial"/>
                <a:sym typeface="Arial"/>
              </a:rPr>
              <a:t>提案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